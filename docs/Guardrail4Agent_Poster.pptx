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6040100" cy="22707600"/>
  <p:notesSz cx="22707600" cy="160401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70" userDrawn="1">
          <p15:clr>
            <a:srgbClr val="A4A3A4"/>
          </p15:clr>
        </p15:guide>
        <p15:guide id="2" pos="50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4444"/>
    <a:srgbClr val="647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7"/>
    <p:restoredTop sz="94610"/>
  </p:normalViewPr>
  <p:slideViewPr>
    <p:cSldViewPr snapToGrid="0" snapToObjects="1">
      <p:cViewPr>
        <p:scale>
          <a:sx n="159" d="100"/>
          <a:sy n="159" d="100"/>
        </p:scale>
        <p:origin x="-6200" y="-2504"/>
      </p:cViewPr>
      <p:guideLst>
        <p:guide orient="horz" pos="7470"/>
        <p:guide pos="50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392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7">
            <a:extLst>
              <a:ext uri="{FF2B5EF4-FFF2-40B4-BE49-F238E27FC236}">
                <a16:creationId xmlns:a16="http://schemas.microsoft.com/office/drawing/2014/main" id="{3C93BC7F-5D03-D3F9-8077-8BF8CDF7F0FA}"/>
              </a:ext>
            </a:extLst>
          </p:cNvPr>
          <p:cNvSpPr/>
          <p:nvPr/>
        </p:nvSpPr>
        <p:spPr>
          <a:xfrm>
            <a:off x="8159506" y="18896989"/>
            <a:ext cx="7543800" cy="3335213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A16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380848" y="7663204"/>
            <a:ext cx="7543800" cy="4400093"/>
          </a:xfrm>
          <a:prstGeom prst="roundRect">
            <a:avLst>
              <a:gd name="adj" fmla="val 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A16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9" name="모서리가 둥근 직사각형 358">
            <a:extLst>
              <a:ext uri="{FF2B5EF4-FFF2-40B4-BE49-F238E27FC236}">
                <a16:creationId xmlns:a16="http://schemas.microsoft.com/office/drawing/2014/main" id="{75AEC814-AD03-EB36-B19A-F97509FD0D02}"/>
              </a:ext>
            </a:extLst>
          </p:cNvPr>
          <p:cNvSpPr/>
          <p:nvPr/>
        </p:nvSpPr>
        <p:spPr>
          <a:xfrm>
            <a:off x="4151131" y="8528259"/>
            <a:ext cx="1618342" cy="864077"/>
          </a:xfrm>
          <a:prstGeom prst="roundRect">
            <a:avLst>
              <a:gd name="adj" fmla="val 2007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/>
          </a:p>
        </p:txBody>
      </p:sp>
      <p:sp>
        <p:nvSpPr>
          <p:cNvPr id="6" name="Shape 2"/>
          <p:cNvSpPr/>
          <p:nvPr/>
        </p:nvSpPr>
        <p:spPr>
          <a:xfrm>
            <a:off x="381305" y="2818286"/>
            <a:ext cx="7543800" cy="4676983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A16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79231" y="11973152"/>
            <a:ext cx="7543800" cy="6149536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A16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8150361" y="2818285"/>
            <a:ext cx="7543800" cy="15873475"/>
          </a:xfrm>
          <a:prstGeom prst="roundRect">
            <a:avLst>
              <a:gd name="adj" fmla="val 1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A1628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379231" y="18259880"/>
            <a:ext cx="7543800" cy="3972323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A1628">
                <a:alpha val="4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8"/>
          <p:cNvSpPr/>
          <p:nvPr/>
        </p:nvSpPr>
        <p:spPr>
          <a:xfrm>
            <a:off x="0" y="22432636"/>
            <a:ext cx="16039490" cy="299086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4"/>
          <p:cNvSpPr/>
          <p:nvPr/>
        </p:nvSpPr>
        <p:spPr>
          <a:xfrm>
            <a:off x="8388106" y="3720886"/>
            <a:ext cx="7010705" cy="2553005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A1628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5"/>
          <p:cNvSpPr/>
          <p:nvPr/>
        </p:nvSpPr>
        <p:spPr>
          <a:xfrm>
            <a:off x="8388106" y="6407393"/>
            <a:ext cx="7010705" cy="2305202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A1628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6"/>
          <p:cNvSpPr/>
          <p:nvPr/>
        </p:nvSpPr>
        <p:spPr>
          <a:xfrm>
            <a:off x="8388106" y="8845184"/>
            <a:ext cx="7010705" cy="2266798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A1628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7"/>
          <p:cNvSpPr/>
          <p:nvPr/>
        </p:nvSpPr>
        <p:spPr>
          <a:xfrm>
            <a:off x="8388106" y="11245484"/>
            <a:ext cx="3467405" cy="2857500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A1628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28"/>
          <p:cNvSpPr/>
          <p:nvPr/>
        </p:nvSpPr>
        <p:spPr>
          <a:xfrm>
            <a:off x="11931406" y="11245484"/>
            <a:ext cx="3467405" cy="2857500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A1628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9"/>
          <p:cNvSpPr/>
          <p:nvPr/>
        </p:nvSpPr>
        <p:spPr>
          <a:xfrm>
            <a:off x="8388106" y="14294092"/>
            <a:ext cx="6991502" cy="1083183"/>
          </a:xfrm>
          <a:prstGeom prst="roundRect">
            <a:avLst>
              <a:gd name="adj" fmla="val 14048"/>
            </a:avLst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2"/>
          <p:cNvSpPr/>
          <p:nvPr/>
        </p:nvSpPr>
        <p:spPr>
          <a:xfrm>
            <a:off x="4405311" y="18863218"/>
            <a:ext cx="761695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3"/>
          <p:cNvSpPr/>
          <p:nvPr/>
        </p:nvSpPr>
        <p:spPr>
          <a:xfrm>
            <a:off x="5262103" y="18863218"/>
            <a:ext cx="761695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4"/>
          <p:cNvSpPr/>
          <p:nvPr/>
        </p:nvSpPr>
        <p:spPr>
          <a:xfrm>
            <a:off x="6119811" y="18863218"/>
            <a:ext cx="761695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11" descr="gen-dedup-d33a3ce8cacce668e7ffecdf4a81a93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72217" y="18798679"/>
            <a:ext cx="1147594" cy="1147594"/>
          </a:xfrm>
          <a:prstGeom prst="rect">
            <a:avLst/>
          </a:prstGeom>
        </p:spPr>
      </p:pic>
      <p:pic>
        <p:nvPicPr>
          <p:cNvPr id="49" name="Image 12" descr="gen-dedup-d79d0adcc036684ed44fcb252812273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51033" y="18793570"/>
            <a:ext cx="1147594" cy="1147594"/>
          </a:xfrm>
          <a:prstGeom prst="rect">
            <a:avLst/>
          </a:prstGeom>
        </p:spPr>
      </p:pic>
      <p:pic>
        <p:nvPicPr>
          <p:cNvPr id="50" name="Image 13" descr="gen-dedup-e0e251df6af08a1c715ae8678e595376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72217" y="20252317"/>
            <a:ext cx="1147594" cy="1147594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379688" y="268617"/>
            <a:ext cx="1508668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spc="-12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Guardrail4Agent: A Korean-Specialized Guardrail Model</a:t>
            </a:r>
            <a:r>
              <a:rPr lang="ko-KR" altLang="en-US" sz="2000" spc="-12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000" b="1" spc="-12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Detecting Data Leakage in LLM Agent Tool Calls</a:t>
            </a:r>
            <a:endParaRPr lang="en-US" sz="2000" spc="-12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Text 38"/>
          <p:cNvSpPr txBox="1"/>
          <p:nvPr/>
        </p:nvSpPr>
        <p:spPr>
          <a:xfrm>
            <a:off x="379688" y="728015"/>
            <a:ext cx="15086686" cy="1407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-120" dirty="0">
                <a:latin typeface="Noto Sans KR Black" panose="020B0200000000000000" pitchFamily="34" charset="-128"/>
                <a:ea typeface="Noto Sans KR Black" panose="020B0200000000000000" pitchFamily="34" charset="-128"/>
                <a:cs typeface="Noto Sans KR" pitchFamily="34" charset="-120"/>
              </a:rPr>
              <a:t>LLM 에이전트 Tool Call 데이터 유출 </a:t>
            </a:r>
            <a:r>
              <a:rPr lang="en-US" sz="4400" b="1" kern="0" spc="-120" dirty="0" err="1">
                <a:latin typeface="Noto Sans KR Black" panose="020B0200000000000000" pitchFamily="34" charset="-128"/>
                <a:ea typeface="Noto Sans KR Black" panose="020B0200000000000000" pitchFamily="34" charset="-128"/>
                <a:cs typeface="Noto Sans KR" pitchFamily="34" charset="-120"/>
              </a:rPr>
              <a:t>탐지를</a:t>
            </a:r>
            <a:r>
              <a:rPr lang="en-US" sz="4400" b="1" kern="0" spc="-120" dirty="0">
                <a:latin typeface="Noto Sans KR Black" panose="020B0200000000000000" pitchFamily="34" charset="-128"/>
                <a:ea typeface="Noto Sans KR Black" panose="020B0200000000000000" pitchFamily="34" charset="-128"/>
                <a:cs typeface="Noto Sans KR" pitchFamily="34" charset="-120"/>
              </a:rPr>
              <a:t> </a:t>
            </a:r>
            <a:r>
              <a:rPr lang="en-US" sz="4400" b="1" kern="0" spc="-120" dirty="0" err="1">
                <a:latin typeface="Noto Sans KR Black" panose="020B0200000000000000" pitchFamily="34" charset="-128"/>
                <a:ea typeface="Noto Sans KR Black" panose="020B0200000000000000" pitchFamily="34" charset="-128"/>
                <a:cs typeface="Noto Sans KR" pitchFamily="34" charset="-120"/>
              </a:rPr>
              <a:t>위한</a:t>
            </a:r>
            <a:endParaRPr lang="en-US" sz="4400" b="1" kern="0" spc="-120" dirty="0">
              <a:latin typeface="Noto Sans KR Black" panose="020B0200000000000000" pitchFamily="34" charset="-128"/>
              <a:ea typeface="Noto Sans KR Black" panose="020B0200000000000000" pitchFamily="34" charset="-128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4400" b="1" kern="0" spc="-120" dirty="0" err="1">
                <a:latin typeface="Noto Sans KR Black" panose="020B0200000000000000" pitchFamily="34" charset="-128"/>
                <a:ea typeface="Noto Sans KR Black" panose="020B0200000000000000" pitchFamily="34" charset="-128"/>
                <a:cs typeface="Noto Sans KR" pitchFamily="34" charset="-120"/>
              </a:rPr>
              <a:t>한국어</a:t>
            </a:r>
            <a:r>
              <a:rPr lang="en-US" sz="4400" b="1" kern="0" spc="-120" dirty="0">
                <a:latin typeface="Noto Sans KR Black" panose="020B0200000000000000" pitchFamily="34" charset="-128"/>
                <a:ea typeface="Noto Sans KR Black" panose="020B0200000000000000" pitchFamily="34" charset="-128"/>
                <a:cs typeface="Noto Sans KR" pitchFamily="34" charset="-120"/>
              </a:rPr>
              <a:t> 특화 </a:t>
            </a:r>
            <a:r>
              <a:rPr lang="en-US" sz="4400" b="1" kern="0" spc="-120" dirty="0" err="1">
                <a:latin typeface="Noto Sans KR Black" panose="020B0200000000000000" pitchFamily="34" charset="-128"/>
                <a:ea typeface="Noto Sans KR Black" panose="020B0200000000000000" pitchFamily="34" charset="-128"/>
                <a:cs typeface="Noto Sans KR" pitchFamily="34" charset="-120"/>
              </a:rPr>
              <a:t>가드레일</a:t>
            </a:r>
            <a:r>
              <a:rPr lang="en-US" sz="4400" b="1" kern="0" spc="-120" dirty="0">
                <a:latin typeface="Noto Sans KR Black" panose="020B0200000000000000" pitchFamily="34" charset="-128"/>
                <a:ea typeface="Noto Sans KR Black" panose="020B0200000000000000" pitchFamily="34" charset="-128"/>
                <a:cs typeface="Noto Sans KR" pitchFamily="34" charset="-120"/>
              </a:rPr>
              <a:t> </a:t>
            </a:r>
            <a:r>
              <a:rPr lang="en-US" sz="4400" b="1" kern="0" spc="-120" dirty="0" err="1">
                <a:latin typeface="Noto Sans KR Black" panose="020B0200000000000000" pitchFamily="34" charset="-128"/>
                <a:ea typeface="Noto Sans KR Black" panose="020B0200000000000000" pitchFamily="34" charset="-128"/>
                <a:cs typeface="Noto Sans KR" pitchFamily="34" charset="-120"/>
              </a:rPr>
              <a:t>모델</a:t>
            </a:r>
            <a:endParaRPr lang="en-US" sz="4400" b="1" spc="-120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</p:txBody>
      </p:sp>
      <p:sp>
        <p:nvSpPr>
          <p:cNvPr id="57" name="Text 41"/>
          <p:cNvSpPr txBox="1"/>
          <p:nvPr/>
        </p:nvSpPr>
        <p:spPr>
          <a:xfrm>
            <a:off x="647395" y="2972735"/>
            <a:ext cx="7049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spc="-100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배경 및 문제 정의</a:t>
            </a:r>
            <a:endParaRPr lang="en-US" sz="2000" spc="-100" dirty="0"/>
          </a:p>
        </p:txBody>
      </p:sp>
      <p:sp>
        <p:nvSpPr>
          <p:cNvPr id="58" name="Text 42"/>
          <p:cNvSpPr txBox="1"/>
          <p:nvPr/>
        </p:nvSpPr>
        <p:spPr>
          <a:xfrm>
            <a:off x="647395" y="3429935"/>
            <a:ext cx="859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</a:t>
            </a:r>
            <a:endParaRPr lang="en-US" sz="900" dirty="0"/>
          </a:p>
        </p:txBody>
      </p:sp>
      <p:sp>
        <p:nvSpPr>
          <p:cNvPr id="59" name="Text 43"/>
          <p:cNvSpPr txBox="1"/>
          <p:nvPr/>
        </p:nvSpPr>
        <p:spPr>
          <a:xfrm>
            <a:off x="799186" y="3429935"/>
            <a:ext cx="691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가드레일(Llama Guard 등)은 </a:t>
            </a: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레벨</a:t>
            </a: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안전성에 집중하여 Tool Call 단계의 위협을 감시하지 못함</a:t>
            </a:r>
            <a:endParaRPr lang="en-US" sz="1100" dirty="0"/>
          </a:p>
        </p:txBody>
      </p:sp>
      <p:sp>
        <p:nvSpPr>
          <p:cNvPr id="60" name="Text 44"/>
          <p:cNvSpPr txBox="1"/>
          <p:nvPr/>
        </p:nvSpPr>
        <p:spPr>
          <a:xfrm>
            <a:off x="647395" y="3700597"/>
            <a:ext cx="859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</a:t>
            </a:r>
            <a:endParaRPr lang="en-US" sz="900" dirty="0"/>
          </a:p>
        </p:txBody>
      </p:sp>
      <p:sp>
        <p:nvSpPr>
          <p:cNvPr id="61" name="Text 45"/>
          <p:cNvSpPr txBox="1"/>
          <p:nvPr/>
        </p:nvSpPr>
        <p:spPr>
          <a:xfrm>
            <a:off x="799186" y="3700597"/>
            <a:ext cx="59120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에이전트가 외부 Tool(API · DB · 파일)을 호출하는 순간의 데이터 </a:t>
            </a:r>
            <a:r>
              <a:rPr lang="en-US" sz="11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유출은</a:t>
            </a: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사각지대</a:t>
            </a:r>
            <a:r>
              <a:rPr lang="ko-KR" altLang="en-US" sz="11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</a:t>
            </a:r>
            <a:r>
              <a:rPr lang="ko-KR" alt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놓여짐</a:t>
            </a:r>
            <a:endParaRPr lang="en-US" sz="1100" dirty="0"/>
          </a:p>
        </p:txBody>
      </p:sp>
      <p:sp>
        <p:nvSpPr>
          <p:cNvPr id="62" name="Text 46"/>
          <p:cNvSpPr txBox="1"/>
          <p:nvPr/>
        </p:nvSpPr>
        <p:spPr>
          <a:xfrm>
            <a:off x="647395" y="3972174"/>
            <a:ext cx="859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</a:t>
            </a:r>
            <a:endParaRPr lang="en-US" sz="900" dirty="0"/>
          </a:p>
        </p:txBody>
      </p:sp>
      <p:sp>
        <p:nvSpPr>
          <p:cNvPr id="63" name="Text 47"/>
          <p:cNvSpPr txBox="1"/>
          <p:nvPr/>
        </p:nvSpPr>
        <p:spPr>
          <a:xfrm>
            <a:off x="799186" y="3972174"/>
            <a:ext cx="50895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환경에서 Llama Guard 3의 </a:t>
            </a:r>
            <a:r>
              <a:rPr lang="en-US" sz="11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Macro ≈ 0.61</a:t>
            </a: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성능 저하 심각</a:t>
            </a:r>
            <a:endParaRPr lang="en-US" sz="1100" dirty="0"/>
          </a:p>
        </p:txBody>
      </p:sp>
      <p:sp>
        <p:nvSpPr>
          <p:cNvPr id="64" name="Text 48"/>
          <p:cNvSpPr txBox="1"/>
          <p:nvPr/>
        </p:nvSpPr>
        <p:spPr>
          <a:xfrm>
            <a:off x="647395" y="4242836"/>
            <a:ext cx="859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</a:t>
            </a:r>
            <a:endParaRPr lang="en-US" sz="900" dirty="0"/>
          </a:p>
        </p:txBody>
      </p:sp>
      <p:sp>
        <p:nvSpPr>
          <p:cNvPr id="65" name="Text 49"/>
          <p:cNvSpPr txBox="1"/>
          <p:nvPr/>
        </p:nvSpPr>
        <p:spPr>
          <a:xfrm>
            <a:off x="799186" y="4242836"/>
            <a:ext cx="38699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주민등록번호, 계좌번호 등 </a:t>
            </a: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고유 PII 패턴 미지원</a:t>
            </a:r>
            <a:endParaRPr lang="en-US" sz="1100" dirty="0"/>
          </a:p>
        </p:txBody>
      </p:sp>
      <p:sp>
        <p:nvSpPr>
          <p:cNvPr id="75" name="Text 59"/>
          <p:cNvSpPr txBox="1"/>
          <p:nvPr/>
        </p:nvSpPr>
        <p:spPr>
          <a:xfrm>
            <a:off x="647395" y="5725078"/>
            <a:ext cx="241218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50" b="1" kern="0" spc="15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미감지 분류기준</a:t>
            </a:r>
            <a:endParaRPr lang="en-US" sz="1050" dirty="0"/>
          </a:p>
        </p:txBody>
      </p:sp>
      <p:sp>
        <p:nvSpPr>
          <p:cNvPr id="76" name="Text 60"/>
          <p:cNvSpPr txBox="1"/>
          <p:nvPr/>
        </p:nvSpPr>
        <p:spPr>
          <a:xfrm>
            <a:off x="1752447" y="5733766"/>
            <a:ext cx="2198768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우선순위: </a:t>
            </a:r>
            <a:r>
              <a:rPr lang="en-US" sz="1050" b="1" dirty="0">
                <a:solidFill>
                  <a:srgbClr val="31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 &gt; S5 &gt; S1 &gt; S2 &gt; S4</a:t>
            </a:r>
            <a:endParaRPr lang="en-US" sz="1050" dirty="0"/>
          </a:p>
        </p:txBody>
      </p:sp>
      <p:grpSp>
        <p:nvGrpSpPr>
          <p:cNvPr id="357" name="그룹 356">
            <a:extLst>
              <a:ext uri="{FF2B5EF4-FFF2-40B4-BE49-F238E27FC236}">
                <a16:creationId xmlns:a16="http://schemas.microsoft.com/office/drawing/2014/main" id="{1E420FB1-1B92-12E8-22A1-68406D768FD5}"/>
              </a:ext>
            </a:extLst>
          </p:cNvPr>
          <p:cNvGrpSpPr/>
          <p:nvPr/>
        </p:nvGrpSpPr>
        <p:grpSpPr>
          <a:xfrm>
            <a:off x="647395" y="6002142"/>
            <a:ext cx="7055510" cy="1306689"/>
            <a:chOff x="647395" y="6382532"/>
            <a:chExt cx="7055510" cy="1013155"/>
          </a:xfrm>
        </p:grpSpPr>
        <p:sp>
          <p:nvSpPr>
            <p:cNvPr id="77" name="Shape 61"/>
            <p:cNvSpPr/>
            <p:nvPr/>
          </p:nvSpPr>
          <p:spPr>
            <a:xfrm>
              <a:off x="647395" y="6382532"/>
              <a:ext cx="2305202" cy="466344"/>
            </a:xfrm>
            <a:prstGeom prst="roundRect">
              <a:avLst>
                <a:gd name="adj" fmla="val 24010"/>
              </a:avLst>
            </a:prstGeom>
            <a:solidFill>
              <a:srgbClr val="22C55E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79" name="Text 63"/>
            <p:cNvSpPr txBox="1"/>
            <p:nvPr/>
          </p:nvSpPr>
          <p:spPr>
            <a:xfrm>
              <a:off x="771754" y="6468486"/>
              <a:ext cx="2770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22C55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safe</a:t>
              </a:r>
              <a:endParaRPr lang="en-US" sz="1000" dirty="0"/>
            </a:p>
          </p:txBody>
        </p:sp>
        <p:sp>
          <p:nvSpPr>
            <p:cNvPr id="80" name="Text 64"/>
            <p:cNvSpPr txBox="1"/>
            <p:nvPr/>
          </p:nvSpPr>
          <p:spPr>
            <a:xfrm>
              <a:off x="1002182" y="6471684"/>
              <a:ext cx="320780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정상</a:t>
              </a:r>
              <a:endParaRPr lang="en-US" sz="1000" dirty="0"/>
            </a:p>
          </p:txBody>
        </p:sp>
        <p:sp>
          <p:nvSpPr>
            <p:cNvPr id="81" name="Text 65"/>
            <p:cNvSpPr txBox="1"/>
            <p:nvPr/>
          </p:nvSpPr>
          <p:spPr>
            <a:xfrm>
              <a:off x="771754" y="6649537"/>
              <a:ext cx="2086661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공개정보 검색, 날씨 조회</a:t>
              </a:r>
              <a:endParaRPr lang="en-US" sz="1000" dirty="0"/>
            </a:p>
          </p:txBody>
        </p:sp>
        <p:sp>
          <p:nvSpPr>
            <p:cNvPr id="82" name="Shape 66"/>
            <p:cNvSpPr/>
            <p:nvPr/>
          </p:nvSpPr>
          <p:spPr>
            <a:xfrm>
              <a:off x="3022092" y="6382532"/>
              <a:ext cx="2305202" cy="466344"/>
            </a:xfrm>
            <a:prstGeom prst="roundRect">
              <a:avLst>
                <a:gd name="adj" fmla="val 24010"/>
              </a:avLst>
            </a:prstGeom>
            <a:solidFill>
              <a:srgbClr val="EF4444">
                <a:alpha val="8000"/>
              </a:srgbClr>
            </a:solidFill>
            <a:ln/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84" name="Text 68"/>
            <p:cNvSpPr txBox="1"/>
            <p:nvPr/>
          </p:nvSpPr>
          <p:spPr>
            <a:xfrm>
              <a:off x="3146450" y="6468486"/>
              <a:ext cx="193380" cy="1468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F444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S1</a:t>
              </a:r>
              <a:endParaRPr lang="en-US" sz="1000" dirty="0"/>
            </a:p>
          </p:txBody>
        </p:sp>
        <p:sp>
          <p:nvSpPr>
            <p:cNvPr id="85" name="Text 69"/>
            <p:cNvSpPr txBox="1"/>
            <p:nvPr/>
          </p:nvSpPr>
          <p:spPr>
            <a:xfrm>
              <a:off x="3359506" y="6459342"/>
              <a:ext cx="52212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PII 유출</a:t>
              </a:r>
              <a:endParaRPr lang="en-US" sz="1000" dirty="0"/>
            </a:p>
          </p:txBody>
        </p:sp>
        <p:sp>
          <p:nvSpPr>
            <p:cNvPr id="86" name="Text 70"/>
            <p:cNvSpPr txBox="1"/>
            <p:nvPr/>
          </p:nvSpPr>
          <p:spPr>
            <a:xfrm>
              <a:off x="3146450" y="6649537"/>
              <a:ext cx="2086661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주민번호·계좌번호 노출</a:t>
              </a:r>
              <a:endParaRPr lang="en-US" sz="1000" dirty="0"/>
            </a:p>
          </p:txBody>
        </p:sp>
        <p:sp>
          <p:nvSpPr>
            <p:cNvPr id="87" name="Shape 71"/>
            <p:cNvSpPr/>
            <p:nvPr/>
          </p:nvSpPr>
          <p:spPr>
            <a:xfrm>
              <a:off x="5397703" y="6382532"/>
              <a:ext cx="2305202" cy="466344"/>
            </a:xfrm>
            <a:prstGeom prst="roundRect">
              <a:avLst>
                <a:gd name="adj" fmla="val 24010"/>
              </a:avLst>
            </a:prstGeom>
            <a:solidFill>
              <a:srgbClr val="EF4444">
                <a:alpha val="8000"/>
              </a:srgbClr>
            </a:solidFill>
            <a:ln/>
          </p:spPr>
          <p:txBody>
            <a:bodyPr/>
            <a:lstStyle/>
            <a:p>
              <a:endParaRPr lang="ko-KR" altLang="en-US" sz="2400" dirty="0"/>
            </a:p>
          </p:txBody>
        </p:sp>
        <p:sp>
          <p:nvSpPr>
            <p:cNvPr id="89" name="Text 73"/>
            <p:cNvSpPr txBox="1"/>
            <p:nvPr/>
          </p:nvSpPr>
          <p:spPr>
            <a:xfrm>
              <a:off x="5521147" y="6468486"/>
              <a:ext cx="248326" cy="1857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F444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S2</a:t>
              </a:r>
              <a:endParaRPr lang="en-US" sz="1000" dirty="0"/>
            </a:p>
          </p:txBody>
        </p:sp>
        <p:sp>
          <p:nvSpPr>
            <p:cNvPr id="90" name="Text 74"/>
            <p:cNvSpPr txBox="1"/>
            <p:nvPr/>
          </p:nvSpPr>
          <p:spPr>
            <a:xfrm>
              <a:off x="5734202" y="6459342"/>
              <a:ext cx="73152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Credential</a:t>
              </a:r>
              <a:endParaRPr lang="en-US" sz="1000" dirty="0"/>
            </a:p>
          </p:txBody>
        </p:sp>
        <p:sp>
          <p:nvSpPr>
            <p:cNvPr id="91" name="Text 75"/>
            <p:cNvSpPr txBox="1"/>
            <p:nvPr/>
          </p:nvSpPr>
          <p:spPr>
            <a:xfrm>
              <a:off x="5521147" y="6649537"/>
              <a:ext cx="2086661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API 키·DB 비밀번호 노출</a:t>
              </a:r>
              <a:endParaRPr lang="en-US" sz="1000" dirty="0"/>
            </a:p>
          </p:txBody>
        </p:sp>
        <p:sp>
          <p:nvSpPr>
            <p:cNvPr id="92" name="Shape 76"/>
            <p:cNvSpPr/>
            <p:nvPr/>
          </p:nvSpPr>
          <p:spPr>
            <a:xfrm>
              <a:off x="647395" y="6919285"/>
              <a:ext cx="2305202" cy="476402"/>
            </a:xfrm>
            <a:prstGeom prst="roundRect">
              <a:avLst>
                <a:gd name="adj" fmla="val 23033"/>
              </a:avLst>
            </a:prstGeom>
            <a:solidFill>
              <a:srgbClr val="EF4444">
                <a:alpha val="16000"/>
              </a:srgbClr>
            </a:solidFill>
            <a:ln/>
            <a:effectLst>
              <a:outerShdw blurRad="12700" dist="12700" dir="16200000" algn="bl" rotWithShape="0">
                <a:srgbClr val="EF4444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94" name="Text 78"/>
            <p:cNvSpPr txBox="1"/>
            <p:nvPr/>
          </p:nvSpPr>
          <p:spPr>
            <a:xfrm>
              <a:off x="771754" y="6995180"/>
              <a:ext cx="324612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F444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S3</a:t>
              </a:r>
              <a:endParaRPr lang="en-US" sz="1000" dirty="0"/>
            </a:p>
          </p:txBody>
        </p:sp>
        <p:sp>
          <p:nvSpPr>
            <p:cNvPr id="95" name="Text 79"/>
            <p:cNvSpPr txBox="1"/>
            <p:nvPr/>
          </p:nvSpPr>
          <p:spPr>
            <a:xfrm>
              <a:off x="981152" y="7009790"/>
              <a:ext cx="117134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Prompt Injection</a:t>
              </a:r>
              <a:endParaRPr lang="en-US" sz="1000" dirty="0"/>
            </a:p>
          </p:txBody>
        </p:sp>
        <p:sp>
          <p:nvSpPr>
            <p:cNvPr id="96" name="Text 80"/>
            <p:cNvSpPr txBox="1"/>
            <p:nvPr/>
          </p:nvSpPr>
          <p:spPr>
            <a:xfrm>
              <a:off x="771754" y="7195434"/>
              <a:ext cx="2086661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숨겨진 명령 · 에이전트 탈취</a:t>
              </a:r>
              <a:endParaRPr lang="en-US" sz="1000" dirty="0"/>
            </a:p>
          </p:txBody>
        </p:sp>
        <p:sp>
          <p:nvSpPr>
            <p:cNvPr id="97" name="Shape 81"/>
            <p:cNvSpPr/>
            <p:nvPr/>
          </p:nvSpPr>
          <p:spPr>
            <a:xfrm>
              <a:off x="3022092" y="6919285"/>
              <a:ext cx="2305202" cy="476402"/>
            </a:xfrm>
            <a:prstGeom prst="roundRect">
              <a:avLst>
                <a:gd name="adj" fmla="val 23033"/>
              </a:avLst>
            </a:prstGeom>
            <a:solidFill>
              <a:srgbClr val="EF4444">
                <a:alpha val="8000"/>
              </a:srgbClr>
            </a:solidFill>
            <a:ln/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99" name="Text 83"/>
            <p:cNvSpPr txBox="1"/>
            <p:nvPr/>
          </p:nvSpPr>
          <p:spPr>
            <a:xfrm>
              <a:off x="3146450" y="7005239"/>
              <a:ext cx="238776" cy="16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F444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S4</a:t>
              </a:r>
              <a:endParaRPr lang="en-US" sz="1000" dirty="0"/>
            </a:p>
          </p:txBody>
        </p:sp>
        <p:sp>
          <p:nvSpPr>
            <p:cNvPr id="100" name="Text 84"/>
            <p:cNvSpPr txBox="1"/>
            <p:nvPr/>
          </p:nvSpPr>
          <p:spPr>
            <a:xfrm>
              <a:off x="3359506" y="6995180"/>
              <a:ext cx="916229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외부 전달</a:t>
              </a:r>
              <a:endParaRPr lang="en-US" sz="1000" dirty="0"/>
            </a:p>
          </p:txBody>
        </p:sp>
        <p:sp>
          <p:nvSpPr>
            <p:cNvPr id="101" name="Text 85"/>
            <p:cNvSpPr txBox="1"/>
            <p:nvPr/>
          </p:nvSpPr>
          <p:spPr>
            <a:xfrm>
              <a:off x="3146450" y="7186290"/>
              <a:ext cx="2086661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DB 결과 미승인 전송</a:t>
              </a:r>
              <a:endParaRPr lang="en-US" sz="1000" dirty="0"/>
            </a:p>
          </p:txBody>
        </p:sp>
        <p:sp>
          <p:nvSpPr>
            <p:cNvPr id="102" name="Shape 86"/>
            <p:cNvSpPr/>
            <p:nvPr/>
          </p:nvSpPr>
          <p:spPr>
            <a:xfrm>
              <a:off x="5397703" y="6919285"/>
              <a:ext cx="2305202" cy="476402"/>
            </a:xfrm>
            <a:prstGeom prst="roundRect">
              <a:avLst>
                <a:gd name="adj" fmla="val 23033"/>
              </a:avLst>
            </a:prstGeom>
            <a:solidFill>
              <a:srgbClr val="EF4444">
                <a:alpha val="8000"/>
              </a:srgbClr>
            </a:solidFill>
            <a:ln/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Text 88"/>
            <p:cNvSpPr txBox="1"/>
            <p:nvPr/>
          </p:nvSpPr>
          <p:spPr>
            <a:xfrm>
              <a:off x="5521147" y="7005239"/>
              <a:ext cx="248326" cy="1748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F444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S5</a:t>
              </a:r>
              <a:endParaRPr lang="en-US" sz="1000" dirty="0"/>
            </a:p>
          </p:txBody>
        </p:sp>
        <p:sp>
          <p:nvSpPr>
            <p:cNvPr id="105" name="Text 89"/>
            <p:cNvSpPr txBox="1"/>
            <p:nvPr/>
          </p:nvSpPr>
          <p:spPr>
            <a:xfrm>
              <a:off x="5734202" y="6995180"/>
              <a:ext cx="127101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System Prompt 추출</a:t>
              </a:r>
              <a:endParaRPr lang="en-US" sz="1000" dirty="0"/>
            </a:p>
          </p:txBody>
        </p:sp>
        <p:sp>
          <p:nvSpPr>
            <p:cNvPr id="106" name="Text 90"/>
            <p:cNvSpPr txBox="1"/>
            <p:nvPr/>
          </p:nvSpPr>
          <p:spPr>
            <a:xfrm>
              <a:off x="5521147" y="7186290"/>
              <a:ext cx="2086661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내부 지시사항·로직 노출</a:t>
              </a:r>
              <a:endParaRPr lang="en-US" sz="1000" dirty="0"/>
            </a:p>
          </p:txBody>
        </p:sp>
      </p:grpSp>
      <p:sp>
        <p:nvSpPr>
          <p:cNvPr id="108" name="Text 92"/>
          <p:cNvSpPr txBox="1"/>
          <p:nvPr/>
        </p:nvSpPr>
        <p:spPr>
          <a:xfrm>
            <a:off x="628802" y="7858429"/>
            <a:ext cx="7049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spc="-100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2000" spc="-100" dirty="0"/>
          </a:p>
        </p:txBody>
      </p:sp>
      <p:sp>
        <p:nvSpPr>
          <p:cNvPr id="109" name="Text 93"/>
          <p:cNvSpPr txBox="1"/>
          <p:nvPr/>
        </p:nvSpPr>
        <p:spPr>
          <a:xfrm>
            <a:off x="2300583" y="7978864"/>
            <a:ext cx="1514705" cy="13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파이프라인 + 3단 폴백 추론</a:t>
            </a:r>
            <a:endParaRPr lang="en-US" sz="800" dirty="0"/>
          </a:p>
        </p:txBody>
      </p:sp>
      <p:sp>
        <p:nvSpPr>
          <p:cNvPr id="110" name="Text 94"/>
          <p:cNvSpPr txBox="1"/>
          <p:nvPr/>
        </p:nvSpPr>
        <p:spPr>
          <a:xfrm>
            <a:off x="637336" y="8263507"/>
            <a:ext cx="7049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DETECTION PIPELINE</a:t>
            </a:r>
            <a:endParaRPr lang="en-US" sz="800" dirty="0"/>
          </a:p>
        </p:txBody>
      </p:sp>
      <p:sp>
        <p:nvSpPr>
          <p:cNvPr id="29" name="Shape 17"/>
          <p:cNvSpPr/>
          <p:nvPr/>
        </p:nvSpPr>
        <p:spPr>
          <a:xfrm>
            <a:off x="646938" y="8575003"/>
            <a:ext cx="1401727" cy="754039"/>
          </a:xfrm>
          <a:prstGeom prst="roundRect">
            <a:avLst>
              <a:gd name="adj" fmla="val 32000"/>
            </a:avLst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0" name="Shape 18"/>
          <p:cNvSpPr/>
          <p:nvPr/>
        </p:nvSpPr>
        <p:spPr>
          <a:xfrm>
            <a:off x="2372698" y="8575003"/>
            <a:ext cx="1401727" cy="754039"/>
          </a:xfrm>
          <a:prstGeom prst="roundRect">
            <a:avLst>
              <a:gd name="adj" fmla="val 32000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2" name="Shape 19"/>
          <p:cNvSpPr/>
          <p:nvPr/>
        </p:nvSpPr>
        <p:spPr>
          <a:xfrm>
            <a:off x="6147215" y="8448324"/>
            <a:ext cx="1509393" cy="452423"/>
          </a:xfrm>
          <a:prstGeom prst="roundRect">
            <a:avLst>
              <a:gd name="adj" fmla="val 74074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3" name="Shape 20"/>
          <p:cNvSpPr/>
          <p:nvPr/>
        </p:nvSpPr>
        <p:spPr>
          <a:xfrm>
            <a:off x="6147215" y="9002091"/>
            <a:ext cx="1509393" cy="452423"/>
          </a:xfrm>
          <a:prstGeom prst="roundRect">
            <a:avLst>
              <a:gd name="adj" fmla="val 74074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11" name="Text 95"/>
          <p:cNvSpPr txBox="1"/>
          <p:nvPr/>
        </p:nvSpPr>
        <p:spPr>
          <a:xfrm>
            <a:off x="646938" y="8675761"/>
            <a:ext cx="1402762" cy="16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13" dirty="0">
                <a:solidFill>
                  <a:srgbClr val="7BB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1</a:t>
            </a:r>
            <a:endParaRPr lang="en-US" sz="700" dirty="0"/>
          </a:p>
        </p:txBody>
      </p:sp>
      <p:sp>
        <p:nvSpPr>
          <p:cNvPr id="112" name="Text 96"/>
          <p:cNvSpPr txBox="1"/>
          <p:nvPr/>
        </p:nvSpPr>
        <p:spPr>
          <a:xfrm>
            <a:off x="646938" y="8825849"/>
            <a:ext cx="1402762" cy="214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입력</a:t>
            </a:r>
            <a:endParaRPr lang="en-US" sz="900" dirty="0"/>
          </a:p>
        </p:txBody>
      </p:sp>
      <p:sp>
        <p:nvSpPr>
          <p:cNvPr id="113" name="Text 97"/>
          <p:cNvSpPr txBox="1"/>
          <p:nvPr/>
        </p:nvSpPr>
        <p:spPr>
          <a:xfrm>
            <a:off x="646938" y="9040601"/>
            <a:ext cx="1402762" cy="16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 Query</a:t>
            </a:r>
            <a:endParaRPr lang="en-US" sz="900" dirty="0"/>
          </a:p>
        </p:txBody>
      </p:sp>
      <p:sp>
        <p:nvSpPr>
          <p:cNvPr id="114" name="Text 98"/>
          <p:cNvSpPr txBox="1"/>
          <p:nvPr/>
        </p:nvSpPr>
        <p:spPr>
          <a:xfrm>
            <a:off x="2048665" y="8800611"/>
            <a:ext cx="302293" cy="252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</a:t>
            </a:r>
            <a:endParaRPr lang="en-US" sz="1600" dirty="0"/>
          </a:p>
        </p:txBody>
      </p:sp>
      <p:sp>
        <p:nvSpPr>
          <p:cNvPr id="115" name="Text 99"/>
          <p:cNvSpPr txBox="1"/>
          <p:nvPr/>
        </p:nvSpPr>
        <p:spPr>
          <a:xfrm>
            <a:off x="2372698" y="8675761"/>
            <a:ext cx="1402762" cy="16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13" dirty="0">
                <a:solidFill>
                  <a:srgbClr val="7BB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2</a:t>
            </a:r>
            <a:endParaRPr lang="en-US" sz="700" dirty="0"/>
          </a:p>
        </p:txBody>
      </p:sp>
      <p:sp>
        <p:nvSpPr>
          <p:cNvPr id="116" name="Text 100"/>
          <p:cNvSpPr txBox="1"/>
          <p:nvPr/>
        </p:nvSpPr>
        <p:spPr>
          <a:xfrm>
            <a:off x="2372698" y="8825849"/>
            <a:ext cx="1402762" cy="214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LLM</a:t>
            </a:r>
            <a:endParaRPr lang="en-US" sz="900" dirty="0"/>
          </a:p>
        </p:txBody>
      </p:sp>
      <p:sp>
        <p:nvSpPr>
          <p:cNvPr id="117" name="Text 101"/>
          <p:cNvSpPr txBox="1"/>
          <p:nvPr/>
        </p:nvSpPr>
        <p:spPr>
          <a:xfrm>
            <a:off x="2372698" y="9040601"/>
            <a:ext cx="1402762" cy="16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E1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 생성</a:t>
            </a:r>
            <a:endParaRPr lang="en-US" sz="900" dirty="0"/>
          </a:p>
        </p:txBody>
      </p:sp>
      <p:sp>
        <p:nvSpPr>
          <p:cNvPr id="118" name="Text 102"/>
          <p:cNvSpPr txBox="1"/>
          <p:nvPr/>
        </p:nvSpPr>
        <p:spPr>
          <a:xfrm>
            <a:off x="3774425" y="8800611"/>
            <a:ext cx="302293" cy="252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</a:t>
            </a:r>
            <a:endParaRPr lang="en-US" sz="1600" dirty="0"/>
          </a:p>
        </p:txBody>
      </p:sp>
      <p:sp>
        <p:nvSpPr>
          <p:cNvPr id="119" name="Text 103"/>
          <p:cNvSpPr txBox="1"/>
          <p:nvPr/>
        </p:nvSpPr>
        <p:spPr>
          <a:xfrm>
            <a:off x="4151131" y="8625677"/>
            <a:ext cx="1618342" cy="16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 kern="0" spc="113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가드레일 모델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0" name="Text 104"/>
          <p:cNvSpPr txBox="1"/>
          <p:nvPr/>
        </p:nvSpPr>
        <p:spPr>
          <a:xfrm>
            <a:off x="4098458" y="8813883"/>
            <a:ext cx="1725760" cy="252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분류기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1" name="Text 105"/>
          <p:cNvSpPr txBox="1"/>
          <p:nvPr/>
        </p:nvSpPr>
        <p:spPr>
          <a:xfrm>
            <a:off x="4098458" y="9090162"/>
            <a:ext cx="1725760" cy="16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 / unsafe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2" name="Text 106"/>
          <p:cNvSpPr txBox="1"/>
          <p:nvPr/>
        </p:nvSpPr>
        <p:spPr>
          <a:xfrm>
            <a:off x="5823182" y="8800611"/>
            <a:ext cx="302293" cy="252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</a:t>
            </a:r>
            <a:endParaRPr lang="en-US" sz="1600" dirty="0"/>
          </a:p>
        </p:txBody>
      </p:sp>
      <p:sp>
        <p:nvSpPr>
          <p:cNvPr id="123" name="Text 107"/>
          <p:cNvSpPr txBox="1"/>
          <p:nvPr/>
        </p:nvSpPr>
        <p:spPr>
          <a:xfrm>
            <a:off x="6374545" y="8583167"/>
            <a:ext cx="765608" cy="201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실행</a:t>
            </a:r>
            <a:endParaRPr lang="en-US" sz="900" dirty="0"/>
          </a:p>
        </p:txBody>
      </p:sp>
      <p:sp>
        <p:nvSpPr>
          <p:cNvPr id="124" name="Text 108"/>
          <p:cNvSpPr txBox="1"/>
          <p:nvPr/>
        </p:nvSpPr>
        <p:spPr>
          <a:xfrm>
            <a:off x="6980340" y="8597898"/>
            <a:ext cx="505585" cy="16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FC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</a:t>
            </a:r>
            <a:endParaRPr lang="en-US" sz="900" dirty="0"/>
          </a:p>
        </p:txBody>
      </p:sp>
      <p:sp>
        <p:nvSpPr>
          <p:cNvPr id="125" name="Text 109"/>
          <p:cNvSpPr txBox="1"/>
          <p:nvPr/>
        </p:nvSpPr>
        <p:spPr>
          <a:xfrm>
            <a:off x="5967543" y="9135504"/>
            <a:ext cx="1510428" cy="201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차단</a:t>
            </a: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Alert</a:t>
            </a:r>
            <a:endParaRPr lang="en-US" sz="900" dirty="0"/>
          </a:p>
        </p:txBody>
      </p:sp>
      <p:sp>
        <p:nvSpPr>
          <p:cNvPr id="126" name="Text 110"/>
          <p:cNvSpPr txBox="1"/>
          <p:nvPr/>
        </p:nvSpPr>
        <p:spPr>
          <a:xfrm>
            <a:off x="7018109" y="9135481"/>
            <a:ext cx="563978" cy="170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E2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unsafe</a:t>
            </a:r>
            <a:endParaRPr lang="en-US" sz="900" dirty="0"/>
          </a:p>
        </p:txBody>
      </p:sp>
      <p:sp>
        <p:nvSpPr>
          <p:cNvPr id="127" name="Text 111"/>
          <p:cNvSpPr txBox="1"/>
          <p:nvPr/>
        </p:nvSpPr>
        <p:spPr>
          <a:xfrm>
            <a:off x="637608" y="9575930"/>
            <a:ext cx="7049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GUARDRAIL INPUT FIELDS</a:t>
            </a:r>
            <a:endParaRPr lang="en-US" sz="800" dirty="0"/>
          </a:p>
        </p:txBody>
      </p: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EE442D8-B9B9-8D01-FF3E-2B52F01F3796}"/>
              </a:ext>
            </a:extLst>
          </p:cNvPr>
          <p:cNvGrpSpPr/>
          <p:nvPr/>
        </p:nvGrpSpPr>
        <p:grpSpPr>
          <a:xfrm>
            <a:off x="646938" y="9873309"/>
            <a:ext cx="7009670" cy="292582"/>
            <a:chOff x="646938" y="9578340"/>
            <a:chExt cx="4381805" cy="238658"/>
          </a:xfrm>
        </p:grpSpPr>
        <p:sp>
          <p:nvSpPr>
            <p:cNvPr id="128" name="Shape 112"/>
            <p:cNvSpPr/>
            <p:nvPr/>
          </p:nvSpPr>
          <p:spPr>
            <a:xfrm>
              <a:off x="646938" y="9578340"/>
              <a:ext cx="933602" cy="237744"/>
            </a:xfrm>
            <a:prstGeom prst="roundRect">
              <a:avLst>
                <a:gd name="adj" fmla="val 92308"/>
              </a:avLst>
            </a:prstGeom>
            <a:solidFill>
              <a:srgbClr val="0A162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2400"/>
            </a:p>
          </p:txBody>
        </p:sp>
        <p:sp>
          <p:nvSpPr>
            <p:cNvPr id="129" name="Text 113"/>
            <p:cNvSpPr txBox="1"/>
            <p:nvPr/>
          </p:nvSpPr>
          <p:spPr>
            <a:xfrm>
              <a:off x="646938" y="9578340"/>
              <a:ext cx="933602" cy="2386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88900" tIns="50800" rIns="88900" bIns="5080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7BB3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SYSTEM_PROMPT</a:t>
              </a:r>
              <a:endParaRPr lang="en-US" sz="1000" dirty="0"/>
            </a:p>
          </p:txBody>
        </p:sp>
        <p:sp>
          <p:nvSpPr>
            <p:cNvPr id="130" name="Shape 114"/>
            <p:cNvSpPr/>
            <p:nvPr/>
          </p:nvSpPr>
          <p:spPr>
            <a:xfrm>
              <a:off x="1628089" y="9578340"/>
              <a:ext cx="761695" cy="237744"/>
            </a:xfrm>
            <a:prstGeom prst="roundRect">
              <a:avLst>
                <a:gd name="adj" fmla="val 92308"/>
              </a:avLst>
            </a:prstGeom>
            <a:solidFill>
              <a:srgbClr val="0A162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2400"/>
            </a:p>
          </p:txBody>
        </p:sp>
        <p:sp>
          <p:nvSpPr>
            <p:cNvPr id="131" name="Text 115"/>
            <p:cNvSpPr txBox="1"/>
            <p:nvPr/>
          </p:nvSpPr>
          <p:spPr>
            <a:xfrm>
              <a:off x="1628089" y="9578340"/>
              <a:ext cx="762610" cy="2386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88900" tIns="50800" rIns="88900" bIns="5080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7BB3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USER_INPUT</a:t>
              </a:r>
              <a:endParaRPr lang="en-US" sz="1000" dirty="0"/>
            </a:p>
          </p:txBody>
        </p:sp>
        <p:sp>
          <p:nvSpPr>
            <p:cNvPr id="132" name="Shape 116"/>
            <p:cNvSpPr/>
            <p:nvPr/>
          </p:nvSpPr>
          <p:spPr>
            <a:xfrm>
              <a:off x="2438248" y="9578340"/>
              <a:ext cx="856793" cy="237744"/>
            </a:xfrm>
            <a:prstGeom prst="roundRect">
              <a:avLst>
                <a:gd name="adj" fmla="val 92308"/>
              </a:avLst>
            </a:prstGeom>
            <a:solidFill>
              <a:srgbClr val="31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2400"/>
            </a:p>
          </p:txBody>
        </p:sp>
        <p:sp>
          <p:nvSpPr>
            <p:cNvPr id="133" name="Text 117"/>
            <p:cNvSpPr txBox="1"/>
            <p:nvPr/>
          </p:nvSpPr>
          <p:spPr>
            <a:xfrm>
              <a:off x="2438248" y="9578340"/>
              <a:ext cx="857707" cy="2386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88900" tIns="50800" rIns="88900" bIns="5080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TOOL_CALL</a:t>
              </a:r>
              <a:endParaRPr lang="en-US" sz="1000" dirty="0"/>
            </a:p>
          </p:txBody>
        </p:sp>
        <p:sp>
          <p:nvSpPr>
            <p:cNvPr id="134" name="Shape 118"/>
            <p:cNvSpPr/>
            <p:nvPr/>
          </p:nvSpPr>
          <p:spPr>
            <a:xfrm>
              <a:off x="3342589" y="9578340"/>
              <a:ext cx="819302" cy="237744"/>
            </a:xfrm>
            <a:prstGeom prst="roundRect">
              <a:avLst>
                <a:gd name="adj" fmla="val 92308"/>
              </a:avLst>
            </a:prstGeom>
            <a:solidFill>
              <a:srgbClr val="0A162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2400"/>
            </a:p>
          </p:txBody>
        </p:sp>
        <p:sp>
          <p:nvSpPr>
            <p:cNvPr id="135" name="Text 119"/>
            <p:cNvSpPr txBox="1"/>
            <p:nvPr/>
          </p:nvSpPr>
          <p:spPr>
            <a:xfrm>
              <a:off x="3342589" y="9578340"/>
              <a:ext cx="819302" cy="2386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88900" tIns="50800" rIns="88900" bIns="5080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7BB3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TOOL_RESULT</a:t>
              </a:r>
              <a:endParaRPr lang="en-US" sz="1000" dirty="0"/>
            </a:p>
          </p:txBody>
        </p:sp>
        <p:sp>
          <p:nvSpPr>
            <p:cNvPr id="136" name="Shape 120"/>
            <p:cNvSpPr/>
            <p:nvPr/>
          </p:nvSpPr>
          <p:spPr>
            <a:xfrm>
              <a:off x="4209441" y="9578340"/>
              <a:ext cx="819302" cy="237744"/>
            </a:xfrm>
            <a:prstGeom prst="roundRect">
              <a:avLst>
                <a:gd name="adj" fmla="val 92308"/>
              </a:avLst>
            </a:prstGeom>
            <a:solidFill>
              <a:srgbClr val="0A162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2400"/>
            </a:p>
          </p:txBody>
        </p:sp>
        <p:sp>
          <p:nvSpPr>
            <p:cNvPr id="137" name="Text 121"/>
            <p:cNvSpPr txBox="1"/>
            <p:nvPr/>
          </p:nvSpPr>
          <p:spPr>
            <a:xfrm>
              <a:off x="4209441" y="9578340"/>
              <a:ext cx="819302" cy="2386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88900" tIns="50800" rIns="88900" bIns="5080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7BB3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NEXT_ACTION</a:t>
              </a:r>
              <a:endParaRPr lang="en-US" sz="1000" dirty="0"/>
            </a:p>
          </p:txBody>
        </p:sp>
      </p:grpSp>
      <p:sp>
        <p:nvSpPr>
          <p:cNvPr id="138" name="Text 122"/>
          <p:cNvSpPr txBox="1"/>
          <p:nvPr/>
        </p:nvSpPr>
        <p:spPr>
          <a:xfrm>
            <a:off x="646938" y="10389501"/>
            <a:ext cx="7049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SERVING</a:t>
            </a:r>
            <a:endParaRPr lang="en-US" sz="800" dirty="0"/>
          </a:p>
        </p:txBody>
      </p:sp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564D88E9-4CE1-60E1-636E-2ACF9E07E7C4}"/>
              </a:ext>
            </a:extLst>
          </p:cNvPr>
          <p:cNvGrpSpPr/>
          <p:nvPr/>
        </p:nvGrpSpPr>
        <p:grpSpPr>
          <a:xfrm>
            <a:off x="646938" y="10618101"/>
            <a:ext cx="7010705" cy="1297836"/>
            <a:chOff x="646938" y="10323132"/>
            <a:chExt cx="7010705" cy="914856"/>
          </a:xfrm>
        </p:grpSpPr>
        <p:sp>
          <p:nvSpPr>
            <p:cNvPr id="34" name="Shape 21"/>
            <p:cNvSpPr/>
            <p:nvPr/>
          </p:nvSpPr>
          <p:spPr>
            <a:xfrm>
              <a:off x="646938" y="10323132"/>
              <a:ext cx="2210105" cy="914856"/>
            </a:xfrm>
            <a:prstGeom prst="roundRect">
              <a:avLst>
                <a:gd name="adj" fmla="val 6612"/>
              </a:avLst>
            </a:prstGeom>
            <a:solidFill>
              <a:srgbClr val="F8FAFC"/>
            </a:solidFill>
            <a:ln w="25400">
              <a:solidFill>
                <a:srgbClr val="3182F6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5" name="Shape 22"/>
            <p:cNvSpPr/>
            <p:nvPr/>
          </p:nvSpPr>
          <p:spPr>
            <a:xfrm>
              <a:off x="3047238" y="10323132"/>
              <a:ext cx="2210105" cy="914856"/>
            </a:xfrm>
            <a:prstGeom prst="roundRect">
              <a:avLst>
                <a:gd name="adj" fmla="val 6612"/>
              </a:avLst>
            </a:prstGeom>
            <a:solidFill>
              <a:srgbClr val="F8FAFC"/>
            </a:solidFill>
            <a:ln w="254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6" name="Shape 23"/>
            <p:cNvSpPr/>
            <p:nvPr/>
          </p:nvSpPr>
          <p:spPr>
            <a:xfrm>
              <a:off x="5447538" y="10323132"/>
              <a:ext cx="2210105" cy="914856"/>
            </a:xfrm>
            <a:prstGeom prst="roundRect">
              <a:avLst>
                <a:gd name="adj" fmla="val 6612"/>
              </a:avLst>
            </a:prstGeom>
            <a:solidFill>
              <a:srgbClr val="F8FAFC"/>
            </a:solidFill>
            <a:ln w="254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39" name="Text 123"/>
            <p:cNvSpPr txBox="1"/>
            <p:nvPr/>
          </p:nvSpPr>
          <p:spPr>
            <a:xfrm>
              <a:off x="761238" y="10437432"/>
              <a:ext cx="1943100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kern="0" spc="75" dirty="0">
                  <a:solidFill>
                    <a:srgbClr val="31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PRIMARY</a:t>
              </a:r>
              <a:endParaRPr lang="en-US" sz="1050" dirty="0"/>
            </a:p>
          </p:txBody>
        </p:sp>
        <p:sp>
          <p:nvSpPr>
            <p:cNvPr id="140" name="Text 124"/>
            <p:cNvSpPr txBox="1"/>
            <p:nvPr/>
          </p:nvSpPr>
          <p:spPr>
            <a:xfrm>
              <a:off x="761238" y="10609339"/>
              <a:ext cx="19431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HuggingFace 파인튜닝 모델</a:t>
              </a:r>
              <a:endParaRPr lang="en-US" sz="1100" dirty="0"/>
            </a:p>
          </p:txBody>
        </p:sp>
        <p:sp>
          <p:nvSpPr>
            <p:cNvPr id="141" name="Text 125"/>
            <p:cNvSpPr txBox="1"/>
            <p:nvPr/>
          </p:nvSpPr>
          <p:spPr>
            <a:xfrm>
              <a:off x="761238" y="10916428"/>
              <a:ext cx="194310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Kanana-nano-2.1b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LoRA SFT</a:t>
              </a:r>
              <a:endParaRPr lang="en-US" sz="1050" dirty="0"/>
            </a:p>
          </p:txBody>
        </p:sp>
        <p:sp>
          <p:nvSpPr>
            <p:cNvPr id="142" name="Text 126"/>
            <p:cNvSpPr txBox="1"/>
            <p:nvPr/>
          </p:nvSpPr>
          <p:spPr>
            <a:xfrm>
              <a:off x="2848135" y="10701369"/>
              <a:ext cx="228600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1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▸</a:t>
              </a:r>
              <a:endParaRPr lang="en-US" dirty="0"/>
            </a:p>
          </p:txBody>
        </p:sp>
        <p:sp>
          <p:nvSpPr>
            <p:cNvPr id="143" name="Text 127"/>
            <p:cNvSpPr txBox="1"/>
            <p:nvPr/>
          </p:nvSpPr>
          <p:spPr>
            <a:xfrm>
              <a:off x="3161538" y="10437432"/>
              <a:ext cx="1943100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kern="0" spc="75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INFERENCE</a:t>
              </a:r>
              <a:endParaRPr lang="en-US" sz="1050" dirty="0"/>
            </a:p>
          </p:txBody>
        </p:sp>
        <p:sp>
          <p:nvSpPr>
            <p:cNvPr id="144" name="Text 128"/>
            <p:cNvSpPr txBox="1"/>
            <p:nvPr/>
          </p:nvSpPr>
          <p:spPr>
            <a:xfrm>
              <a:off x="3161538" y="10609339"/>
              <a:ext cx="1943100" cy="2397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KakaoCloud </a:t>
              </a:r>
              <a:r>
                <a:rPr lang="en-US" sz="1100" b="1" dirty="0" err="1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추론</a:t>
              </a:r>
              <a:r>
                <a:rPr lang="en-US" sz="11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100" b="1" dirty="0" err="1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엔드포인트</a:t>
              </a:r>
              <a:r>
                <a:rPr lang="ko-KR" altLang="en-US" sz="11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11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</a:t>
              </a:r>
              <a:r>
                <a:rPr lang="ko-KR" altLang="en-US" sz="1100" b="1" dirty="0" err="1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파인튜닝</a:t>
              </a:r>
              <a:r>
                <a:rPr lang="ko-KR" altLang="en-US" sz="11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모델 서빙</a:t>
              </a:r>
              <a:r>
                <a:rPr lang="en-US" altLang="ko-KR" sz="11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  <a:endParaRPr lang="en-US" sz="1100" dirty="0"/>
            </a:p>
          </p:txBody>
        </p:sp>
        <p:sp>
          <p:nvSpPr>
            <p:cNvPr id="145" name="Text 129"/>
            <p:cNvSpPr txBox="1"/>
            <p:nvPr/>
          </p:nvSpPr>
          <p:spPr>
            <a:xfrm>
              <a:off x="3161538" y="10925049"/>
              <a:ext cx="194310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저지연 서빙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NVIDIA A10G</a:t>
              </a:r>
              <a:endParaRPr lang="en-US" sz="1050" dirty="0"/>
            </a:p>
          </p:txBody>
        </p:sp>
        <p:sp>
          <p:nvSpPr>
            <p:cNvPr id="146" name="Text 130"/>
            <p:cNvSpPr txBox="1"/>
            <p:nvPr/>
          </p:nvSpPr>
          <p:spPr>
            <a:xfrm>
              <a:off x="5248435" y="10701369"/>
              <a:ext cx="228600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▸</a:t>
              </a:r>
              <a:endParaRPr lang="en-US" dirty="0"/>
            </a:p>
          </p:txBody>
        </p:sp>
        <p:sp>
          <p:nvSpPr>
            <p:cNvPr id="147" name="Text 131"/>
            <p:cNvSpPr txBox="1"/>
            <p:nvPr/>
          </p:nvSpPr>
          <p:spPr>
            <a:xfrm>
              <a:off x="5561838" y="10437432"/>
              <a:ext cx="1943100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kern="0" spc="75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FALLBACK</a:t>
              </a:r>
              <a:endParaRPr lang="en-US" sz="1050" dirty="0"/>
            </a:p>
          </p:txBody>
        </p:sp>
        <p:sp>
          <p:nvSpPr>
            <p:cNvPr id="148" name="Text 132"/>
            <p:cNvSpPr txBox="1"/>
            <p:nvPr/>
          </p:nvSpPr>
          <p:spPr>
            <a:xfrm>
              <a:off x="5561838" y="10609339"/>
              <a:ext cx="19431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Claude Haiku</a:t>
              </a:r>
              <a:endParaRPr lang="en-US" sz="1100" dirty="0"/>
            </a:p>
          </p:txBody>
        </p:sp>
        <p:sp>
          <p:nvSpPr>
            <p:cNvPr id="149" name="Text 133"/>
            <p:cNvSpPr txBox="1"/>
            <p:nvPr/>
          </p:nvSpPr>
          <p:spPr>
            <a:xfrm>
              <a:off x="5561838" y="10901680"/>
              <a:ext cx="194310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고장/지연 시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자동 전환</a:t>
              </a:r>
              <a:endParaRPr lang="en-US" sz="1050" dirty="0"/>
            </a:p>
          </p:txBody>
        </p:sp>
      </p:grpSp>
      <p:sp>
        <p:nvSpPr>
          <p:cNvPr id="151" name="Text 135"/>
          <p:cNvSpPr txBox="1"/>
          <p:nvPr/>
        </p:nvSpPr>
        <p:spPr>
          <a:xfrm>
            <a:off x="645321" y="12546872"/>
            <a:ext cx="7049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spc="-100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방법론</a:t>
            </a:r>
            <a:endParaRPr lang="en-US" sz="2000" spc="-100" dirty="0"/>
          </a:p>
        </p:txBody>
      </p:sp>
      <p:sp>
        <p:nvSpPr>
          <p:cNvPr id="152" name="Text 136"/>
          <p:cNvSpPr txBox="1"/>
          <p:nvPr/>
        </p:nvSpPr>
        <p:spPr>
          <a:xfrm>
            <a:off x="644863" y="12942930"/>
            <a:ext cx="7049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Kanana-nano-2.1b · LoRA SFT · 한국어 합성 데이터 7,000건</a:t>
            </a:r>
            <a:endParaRPr lang="en-US" sz="1200" dirty="0"/>
          </a:p>
        </p:txBody>
      </p:sp>
      <p:sp>
        <p:nvSpPr>
          <p:cNvPr id="153" name="Text 137"/>
          <p:cNvSpPr txBox="1"/>
          <p:nvPr/>
        </p:nvSpPr>
        <p:spPr>
          <a:xfrm>
            <a:off x="634441" y="13280873"/>
            <a:ext cx="4096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TRAINING CONFIG</a:t>
            </a:r>
            <a:endParaRPr lang="en-US" sz="800" dirty="0"/>
          </a:p>
        </p:txBody>
      </p:sp>
      <p:sp>
        <p:nvSpPr>
          <p:cNvPr id="154" name="Shape 138"/>
          <p:cNvSpPr/>
          <p:nvPr/>
        </p:nvSpPr>
        <p:spPr>
          <a:xfrm>
            <a:off x="645321" y="13985961"/>
            <a:ext cx="40955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5" name="Text 139"/>
          <p:cNvSpPr txBox="1"/>
          <p:nvPr/>
        </p:nvSpPr>
        <p:spPr>
          <a:xfrm>
            <a:off x="645321" y="13594598"/>
            <a:ext cx="10287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MODEL</a:t>
            </a:r>
            <a:endParaRPr lang="en-US" sz="1050" dirty="0"/>
          </a:p>
        </p:txBody>
      </p:sp>
      <p:sp>
        <p:nvSpPr>
          <p:cNvPr id="156" name="Shape 140"/>
          <p:cNvSpPr/>
          <p:nvPr/>
        </p:nvSpPr>
        <p:spPr>
          <a:xfrm>
            <a:off x="645321" y="14460535"/>
            <a:ext cx="40955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7" name="Text 141"/>
          <p:cNvSpPr txBox="1"/>
          <p:nvPr/>
        </p:nvSpPr>
        <p:spPr>
          <a:xfrm>
            <a:off x="645321" y="14070086"/>
            <a:ext cx="10287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FINE-TUNING</a:t>
            </a:r>
            <a:endParaRPr lang="en-US" sz="1050" dirty="0"/>
          </a:p>
        </p:txBody>
      </p:sp>
      <p:sp>
        <p:nvSpPr>
          <p:cNvPr id="158" name="Shape 142"/>
          <p:cNvSpPr/>
          <p:nvPr/>
        </p:nvSpPr>
        <p:spPr>
          <a:xfrm>
            <a:off x="645321" y="14779660"/>
            <a:ext cx="40955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9" name="Text 143"/>
          <p:cNvSpPr txBox="1"/>
          <p:nvPr/>
        </p:nvSpPr>
        <p:spPr>
          <a:xfrm>
            <a:off x="645321" y="14541002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</a:t>
            </a:r>
            <a:endParaRPr lang="en-US" sz="1050" dirty="0"/>
          </a:p>
        </p:txBody>
      </p:sp>
      <p:sp>
        <p:nvSpPr>
          <p:cNvPr id="161" name="Shape 145"/>
          <p:cNvSpPr/>
          <p:nvPr/>
        </p:nvSpPr>
        <p:spPr>
          <a:xfrm>
            <a:off x="645321" y="15241432"/>
            <a:ext cx="40955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2" name="Text 146"/>
          <p:cNvSpPr txBox="1"/>
          <p:nvPr/>
        </p:nvSpPr>
        <p:spPr>
          <a:xfrm>
            <a:off x="645321" y="14860128"/>
            <a:ext cx="10287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DATASET</a:t>
            </a:r>
            <a:endParaRPr lang="en-US" sz="1050" dirty="0"/>
          </a:p>
        </p:txBody>
      </p:sp>
      <p:sp>
        <p:nvSpPr>
          <p:cNvPr id="163" name="Text 147"/>
          <p:cNvSpPr txBox="1"/>
          <p:nvPr/>
        </p:nvSpPr>
        <p:spPr>
          <a:xfrm>
            <a:off x="1933902" y="14860128"/>
            <a:ext cx="184052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합성 7,000건</a:t>
            </a:r>
            <a:r>
              <a:rPr lang="en-US" sz="1000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6개 </a:t>
            </a:r>
            <a:r>
              <a:rPr lang="en-US" sz="1000" dirty="0" err="1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endParaRPr lang="en-US" sz="1000" dirty="0"/>
          </a:p>
        </p:txBody>
      </p:sp>
      <p:sp>
        <p:nvSpPr>
          <p:cNvPr id="164" name="Shape 148"/>
          <p:cNvSpPr/>
          <p:nvPr/>
        </p:nvSpPr>
        <p:spPr>
          <a:xfrm>
            <a:off x="645321" y="15716920"/>
            <a:ext cx="40955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5" name="Text 149"/>
          <p:cNvSpPr txBox="1"/>
          <p:nvPr/>
        </p:nvSpPr>
        <p:spPr>
          <a:xfrm>
            <a:off x="645321" y="15325557"/>
            <a:ext cx="10287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HARDWARE</a:t>
            </a:r>
            <a:endParaRPr lang="en-US" sz="1050" dirty="0"/>
          </a:p>
        </p:txBody>
      </p:sp>
      <p:sp>
        <p:nvSpPr>
          <p:cNvPr id="166" name="Text 150"/>
          <p:cNvSpPr txBox="1"/>
          <p:nvPr/>
        </p:nvSpPr>
        <p:spPr>
          <a:xfrm>
            <a:off x="645321" y="15796473"/>
            <a:ext cx="10287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167" name="Text 151"/>
          <p:cNvSpPr txBox="1"/>
          <p:nvPr/>
        </p:nvSpPr>
        <p:spPr>
          <a:xfrm>
            <a:off x="1933902" y="15796473"/>
            <a:ext cx="184052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AdamW + Cosine LR Decay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1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lr=2e-4 · warmup=5% · bs=16</a:t>
            </a:r>
            <a:endParaRPr lang="en-US" sz="1000" dirty="0"/>
          </a:p>
        </p:txBody>
      </p:sp>
      <p:sp>
        <p:nvSpPr>
          <p:cNvPr id="168" name="Text 152"/>
          <p:cNvSpPr txBox="1"/>
          <p:nvPr/>
        </p:nvSpPr>
        <p:spPr>
          <a:xfrm>
            <a:off x="1933902" y="13604656"/>
            <a:ext cx="173320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16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Kanana-nano-2.1b-instruct</a:t>
            </a:r>
            <a:endParaRPr lang="en-US" sz="1000" dirty="0"/>
          </a:p>
        </p:txBody>
      </p:sp>
      <p:sp>
        <p:nvSpPr>
          <p:cNvPr id="169" name="Text 153"/>
          <p:cNvSpPr txBox="1"/>
          <p:nvPr/>
        </p:nvSpPr>
        <p:spPr>
          <a:xfrm>
            <a:off x="1933903" y="13756447"/>
            <a:ext cx="134905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KakaoAI · 한국어 특화</a:t>
            </a:r>
            <a:endParaRPr lang="en-US" sz="1000" dirty="0"/>
          </a:p>
        </p:txBody>
      </p:sp>
      <p:sp>
        <p:nvSpPr>
          <p:cNvPr id="170" name="Text 154"/>
          <p:cNvSpPr txBox="1"/>
          <p:nvPr/>
        </p:nvSpPr>
        <p:spPr>
          <a:xfrm>
            <a:off x="1920048" y="14103886"/>
            <a:ext cx="6543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LoRA SFT</a:t>
            </a:r>
            <a:endParaRPr lang="en-US" sz="1000" dirty="0"/>
          </a:p>
        </p:txBody>
      </p:sp>
      <p:sp>
        <p:nvSpPr>
          <p:cNvPr id="171" name="Text 155"/>
          <p:cNvSpPr txBox="1"/>
          <p:nvPr/>
        </p:nvSpPr>
        <p:spPr>
          <a:xfrm>
            <a:off x="1933902" y="14241079"/>
            <a:ext cx="2995089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1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rank=16, α=32, dropout=0.05</a:t>
            </a:r>
            <a:endParaRPr lang="en-US" sz="1000" dirty="0"/>
          </a:p>
        </p:txBody>
      </p:sp>
      <p:sp>
        <p:nvSpPr>
          <p:cNvPr id="173" name="Text 157"/>
          <p:cNvSpPr txBox="1"/>
          <p:nvPr/>
        </p:nvSpPr>
        <p:spPr>
          <a:xfrm>
            <a:off x="1874927" y="14541221"/>
            <a:ext cx="2971391" cy="143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12700" rIns="50800" bIns="1270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0A16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</a:t>
            </a:r>
            <a:r>
              <a:rPr lang="en-US" altLang="ko-KR" sz="1100" dirty="0" err="1">
                <a:solidFill>
                  <a:srgbClr val="0A16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_proj</a:t>
            </a:r>
            <a:r>
              <a:rPr lang="en-US" sz="1100" dirty="0">
                <a:solidFill>
                  <a:srgbClr val="0A16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</a:t>
            </a:r>
            <a:r>
              <a:rPr lang="en-US" sz="1100" dirty="0" err="1">
                <a:solidFill>
                  <a:srgbClr val="0A16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k_proj</a:t>
            </a:r>
            <a:r>
              <a:rPr lang="en-US" sz="1100" dirty="0">
                <a:solidFill>
                  <a:srgbClr val="0A16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</a:t>
            </a:r>
            <a:r>
              <a:rPr lang="en-US" sz="1100" dirty="0" err="1">
                <a:solidFill>
                  <a:srgbClr val="0A16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v_proj</a:t>
            </a:r>
            <a:r>
              <a:rPr lang="en-US" sz="1100" dirty="0">
                <a:solidFill>
                  <a:srgbClr val="0A16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</a:t>
            </a:r>
            <a:r>
              <a:rPr lang="en-US" sz="1100" dirty="0" err="1">
                <a:solidFill>
                  <a:srgbClr val="0A16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o_proj</a:t>
            </a:r>
            <a:endParaRPr lang="en-US" sz="1100" dirty="0"/>
          </a:p>
        </p:txBody>
      </p:sp>
      <p:sp>
        <p:nvSpPr>
          <p:cNvPr id="174" name="Text 158"/>
          <p:cNvSpPr txBox="1"/>
          <p:nvPr/>
        </p:nvSpPr>
        <p:spPr>
          <a:xfrm>
            <a:off x="1933903" y="15316413"/>
            <a:ext cx="130368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NVIDIA A10G 24GB</a:t>
            </a:r>
            <a:endParaRPr lang="en-US" sz="1000" dirty="0"/>
          </a:p>
        </p:txBody>
      </p:sp>
      <p:sp>
        <p:nvSpPr>
          <p:cNvPr id="175" name="Text 159"/>
          <p:cNvSpPr txBox="1"/>
          <p:nvPr/>
        </p:nvSpPr>
        <p:spPr>
          <a:xfrm>
            <a:off x="1933902" y="15496550"/>
            <a:ext cx="151239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CUDA 12.1 · Flash Attn 2</a:t>
            </a:r>
            <a:endParaRPr lang="en-US" sz="1000" dirty="0"/>
          </a:p>
        </p:txBody>
      </p:sp>
      <p:sp>
        <p:nvSpPr>
          <p:cNvPr id="177" name="Text 161"/>
          <p:cNvSpPr txBox="1"/>
          <p:nvPr/>
        </p:nvSpPr>
        <p:spPr>
          <a:xfrm>
            <a:off x="5066691" y="13407108"/>
            <a:ext cx="2800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합성 7,000건 도메인 구성</a:t>
            </a:r>
            <a:endParaRPr lang="en-US" sz="1000" dirty="0"/>
          </a:p>
        </p:txBody>
      </p:sp>
      <p:sp>
        <p:nvSpPr>
          <p:cNvPr id="178" name="Shape 162"/>
          <p:cNvSpPr/>
          <p:nvPr/>
        </p:nvSpPr>
        <p:spPr>
          <a:xfrm>
            <a:off x="5061733" y="13720649"/>
            <a:ext cx="85954" cy="85954"/>
          </a:xfrm>
          <a:prstGeom prst="roundRect">
            <a:avLst>
              <a:gd name="adj" fmla="val 236406"/>
            </a:avLst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79" name="Text 163"/>
          <p:cNvSpPr txBox="1"/>
          <p:nvPr/>
        </p:nvSpPr>
        <p:spPr>
          <a:xfrm>
            <a:off x="5204380" y="13692303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</a:t>
            </a:r>
            <a:endParaRPr lang="en-US" sz="900" dirty="0"/>
          </a:p>
        </p:txBody>
      </p:sp>
      <p:sp>
        <p:nvSpPr>
          <p:cNvPr id="180" name="Text 164"/>
          <p:cNvSpPr txBox="1"/>
          <p:nvPr/>
        </p:nvSpPr>
        <p:spPr>
          <a:xfrm>
            <a:off x="6232604" y="13680532"/>
            <a:ext cx="420958" cy="150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30%</a:t>
            </a:r>
            <a:endParaRPr lang="en-US" sz="900" dirty="0"/>
          </a:p>
        </p:txBody>
      </p:sp>
      <p:sp>
        <p:nvSpPr>
          <p:cNvPr id="181" name="Shape 165"/>
          <p:cNvSpPr/>
          <p:nvPr/>
        </p:nvSpPr>
        <p:spPr>
          <a:xfrm>
            <a:off x="5061733" y="13920903"/>
            <a:ext cx="85954" cy="85954"/>
          </a:xfrm>
          <a:prstGeom prst="roundRect">
            <a:avLst>
              <a:gd name="adj" fmla="val 236406"/>
            </a:avLst>
          </a:prstGeom>
          <a:solidFill>
            <a:srgbClr val="31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82" name="Text 166"/>
          <p:cNvSpPr txBox="1"/>
          <p:nvPr/>
        </p:nvSpPr>
        <p:spPr>
          <a:xfrm>
            <a:off x="5204380" y="13892556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900" dirty="0"/>
          </a:p>
        </p:txBody>
      </p:sp>
      <p:sp>
        <p:nvSpPr>
          <p:cNvPr id="183" name="Text 167"/>
          <p:cNvSpPr txBox="1"/>
          <p:nvPr/>
        </p:nvSpPr>
        <p:spPr>
          <a:xfrm>
            <a:off x="6232604" y="13880785"/>
            <a:ext cx="420958" cy="150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20%</a:t>
            </a:r>
            <a:endParaRPr lang="en-US" sz="900" dirty="0"/>
          </a:p>
        </p:txBody>
      </p:sp>
      <p:sp>
        <p:nvSpPr>
          <p:cNvPr id="184" name="Shape 168"/>
          <p:cNvSpPr/>
          <p:nvPr/>
        </p:nvSpPr>
        <p:spPr>
          <a:xfrm>
            <a:off x="5061733" y="14121156"/>
            <a:ext cx="85954" cy="85954"/>
          </a:xfrm>
          <a:prstGeom prst="roundRect">
            <a:avLst>
              <a:gd name="adj" fmla="val 236406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85" name="Text 169"/>
          <p:cNvSpPr txBox="1"/>
          <p:nvPr/>
        </p:nvSpPr>
        <p:spPr>
          <a:xfrm>
            <a:off x="5204380" y="14091895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</a:t>
            </a:r>
            <a:endParaRPr lang="en-US" sz="900" dirty="0"/>
          </a:p>
        </p:txBody>
      </p:sp>
      <p:sp>
        <p:nvSpPr>
          <p:cNvPr id="186" name="Text 170"/>
          <p:cNvSpPr txBox="1"/>
          <p:nvPr/>
        </p:nvSpPr>
        <p:spPr>
          <a:xfrm>
            <a:off x="6232604" y="14081039"/>
            <a:ext cx="420958" cy="150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15%</a:t>
            </a:r>
            <a:endParaRPr lang="en-US" sz="900" dirty="0"/>
          </a:p>
        </p:txBody>
      </p:sp>
      <p:sp>
        <p:nvSpPr>
          <p:cNvPr id="187" name="Shape 171"/>
          <p:cNvSpPr/>
          <p:nvPr/>
        </p:nvSpPr>
        <p:spPr>
          <a:xfrm>
            <a:off x="5061733" y="14320495"/>
            <a:ext cx="85954" cy="85954"/>
          </a:xfrm>
          <a:prstGeom prst="roundRect">
            <a:avLst>
              <a:gd name="adj" fmla="val 236406"/>
            </a:avLst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88" name="Text 172"/>
          <p:cNvSpPr txBox="1"/>
          <p:nvPr/>
        </p:nvSpPr>
        <p:spPr>
          <a:xfrm>
            <a:off x="5204380" y="14292149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</a:t>
            </a:r>
            <a:endParaRPr lang="en-US" sz="900" dirty="0"/>
          </a:p>
        </p:txBody>
      </p:sp>
      <p:sp>
        <p:nvSpPr>
          <p:cNvPr id="189" name="Text 173"/>
          <p:cNvSpPr txBox="1"/>
          <p:nvPr/>
        </p:nvSpPr>
        <p:spPr>
          <a:xfrm>
            <a:off x="6232604" y="14281292"/>
            <a:ext cx="420958" cy="150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15%</a:t>
            </a:r>
            <a:endParaRPr lang="en-US" sz="900" dirty="0"/>
          </a:p>
        </p:txBody>
      </p:sp>
      <p:sp>
        <p:nvSpPr>
          <p:cNvPr id="190" name="Shape 174"/>
          <p:cNvSpPr/>
          <p:nvPr/>
        </p:nvSpPr>
        <p:spPr>
          <a:xfrm>
            <a:off x="5061733" y="14520749"/>
            <a:ext cx="85954" cy="85954"/>
          </a:xfrm>
          <a:prstGeom prst="roundRect">
            <a:avLst>
              <a:gd name="adj" fmla="val 236406"/>
            </a:avLst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91" name="Text 175"/>
          <p:cNvSpPr txBox="1"/>
          <p:nvPr/>
        </p:nvSpPr>
        <p:spPr>
          <a:xfrm>
            <a:off x="5204380" y="14492403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법률</a:t>
            </a:r>
            <a:endParaRPr lang="en-US" sz="900" dirty="0"/>
          </a:p>
        </p:txBody>
      </p:sp>
      <p:sp>
        <p:nvSpPr>
          <p:cNvPr id="192" name="Text 176"/>
          <p:cNvSpPr txBox="1"/>
          <p:nvPr/>
        </p:nvSpPr>
        <p:spPr>
          <a:xfrm>
            <a:off x="6232604" y="14480632"/>
            <a:ext cx="420958" cy="150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900" dirty="0"/>
          </a:p>
        </p:txBody>
      </p:sp>
      <p:sp>
        <p:nvSpPr>
          <p:cNvPr id="193" name="Shape 177"/>
          <p:cNvSpPr/>
          <p:nvPr/>
        </p:nvSpPr>
        <p:spPr>
          <a:xfrm>
            <a:off x="5061733" y="14721003"/>
            <a:ext cx="85954" cy="85954"/>
          </a:xfrm>
          <a:prstGeom prst="roundRect">
            <a:avLst>
              <a:gd name="adj" fmla="val 236406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94" name="Text 178"/>
          <p:cNvSpPr txBox="1"/>
          <p:nvPr/>
        </p:nvSpPr>
        <p:spPr>
          <a:xfrm>
            <a:off x="5204380" y="14692656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</a:t>
            </a:r>
            <a:endParaRPr lang="en-US" sz="900" dirty="0"/>
          </a:p>
        </p:txBody>
      </p:sp>
      <p:sp>
        <p:nvSpPr>
          <p:cNvPr id="195" name="Text 179"/>
          <p:cNvSpPr txBox="1"/>
          <p:nvPr/>
        </p:nvSpPr>
        <p:spPr>
          <a:xfrm>
            <a:off x="6232604" y="14680885"/>
            <a:ext cx="420958" cy="150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900" dirty="0"/>
          </a:p>
        </p:txBody>
      </p:sp>
      <p:sp>
        <p:nvSpPr>
          <p:cNvPr id="196" name="Text 180"/>
          <p:cNvSpPr txBox="1"/>
          <p:nvPr/>
        </p:nvSpPr>
        <p:spPr>
          <a:xfrm>
            <a:off x="637336" y="16393864"/>
            <a:ext cx="306141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473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DETECTION PRIORITY · 동시 위반 시 상위 분류</a:t>
            </a:r>
            <a:endParaRPr lang="en-US" sz="800" dirty="0">
              <a:solidFill>
                <a:srgbClr val="64738B"/>
              </a:solidFill>
            </a:endParaRPr>
          </a:p>
        </p:txBody>
      </p:sp>
      <p:sp>
        <p:nvSpPr>
          <p:cNvPr id="197" name="Text 181"/>
          <p:cNvSpPr txBox="1"/>
          <p:nvPr/>
        </p:nvSpPr>
        <p:spPr>
          <a:xfrm>
            <a:off x="6230682" y="16413065"/>
            <a:ext cx="1463291" cy="20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→ HIGH → MEDIUM</a:t>
            </a:r>
            <a:endParaRPr lang="en-US" sz="800" dirty="0"/>
          </a:p>
        </p:txBody>
      </p:sp>
      <p:sp>
        <p:nvSpPr>
          <p:cNvPr id="198" name="Shape 182"/>
          <p:cNvSpPr/>
          <p:nvPr/>
        </p:nvSpPr>
        <p:spPr>
          <a:xfrm>
            <a:off x="637336" y="16680993"/>
            <a:ext cx="1367546" cy="802556"/>
          </a:xfrm>
          <a:prstGeom prst="roundRect">
            <a:avLst>
              <a:gd name="adj" fmla="val 14518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9" name="Text 183"/>
          <p:cNvSpPr txBox="1"/>
          <p:nvPr/>
        </p:nvSpPr>
        <p:spPr>
          <a:xfrm>
            <a:off x="734884" y="16795994"/>
            <a:ext cx="68471" cy="17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0" name="Text 184"/>
          <p:cNvSpPr txBox="1"/>
          <p:nvPr/>
        </p:nvSpPr>
        <p:spPr>
          <a:xfrm>
            <a:off x="857757" y="16795994"/>
            <a:ext cx="136942" cy="17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1" name="Text 185"/>
          <p:cNvSpPr txBox="1"/>
          <p:nvPr/>
        </p:nvSpPr>
        <p:spPr>
          <a:xfrm>
            <a:off x="734884" y="17012537"/>
            <a:ext cx="1172451" cy="1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Injection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2" name="Text 186"/>
          <p:cNvSpPr txBox="1"/>
          <p:nvPr/>
        </p:nvSpPr>
        <p:spPr>
          <a:xfrm>
            <a:off x="734884" y="17229080"/>
            <a:ext cx="1172451" cy="1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3" name="Shape 187"/>
          <p:cNvSpPr/>
          <p:nvPr/>
        </p:nvSpPr>
        <p:spPr>
          <a:xfrm>
            <a:off x="2063974" y="16680993"/>
            <a:ext cx="1347850" cy="802556"/>
          </a:xfrm>
          <a:prstGeom prst="roundRect">
            <a:avLst>
              <a:gd name="adj" fmla="val 14518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4" name="Text 188"/>
          <p:cNvSpPr txBox="1"/>
          <p:nvPr/>
        </p:nvSpPr>
        <p:spPr>
          <a:xfrm>
            <a:off x="2152142" y="16782536"/>
            <a:ext cx="68471" cy="17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5" name="Text 189"/>
          <p:cNvSpPr txBox="1"/>
          <p:nvPr/>
        </p:nvSpPr>
        <p:spPr>
          <a:xfrm>
            <a:off x="2275015" y="16782536"/>
            <a:ext cx="136942" cy="17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S5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6" name="Text 190"/>
          <p:cNvSpPr txBox="1"/>
          <p:nvPr/>
        </p:nvSpPr>
        <p:spPr>
          <a:xfrm>
            <a:off x="2152142" y="16999080"/>
            <a:ext cx="1172451" cy="1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Prompt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7" name="Text 191"/>
          <p:cNvSpPr txBox="1"/>
          <p:nvPr/>
        </p:nvSpPr>
        <p:spPr>
          <a:xfrm>
            <a:off x="2152142" y="17216846"/>
            <a:ext cx="1172451" cy="1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8" name="Shape 192"/>
          <p:cNvSpPr/>
          <p:nvPr/>
        </p:nvSpPr>
        <p:spPr>
          <a:xfrm>
            <a:off x="3470915" y="16680993"/>
            <a:ext cx="1347850" cy="802556"/>
          </a:xfrm>
          <a:prstGeom prst="roundRect">
            <a:avLst>
              <a:gd name="adj" fmla="val 14518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9" name="Text 193"/>
          <p:cNvSpPr txBox="1"/>
          <p:nvPr/>
        </p:nvSpPr>
        <p:spPr>
          <a:xfrm>
            <a:off x="3559084" y="16782536"/>
            <a:ext cx="68471" cy="17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0" name="Text 194"/>
          <p:cNvSpPr txBox="1"/>
          <p:nvPr/>
        </p:nvSpPr>
        <p:spPr>
          <a:xfrm>
            <a:off x="3681956" y="16782536"/>
            <a:ext cx="136942" cy="17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1" name="Text 195"/>
          <p:cNvSpPr txBox="1"/>
          <p:nvPr/>
        </p:nvSpPr>
        <p:spPr>
          <a:xfrm>
            <a:off x="3559084" y="16999080"/>
            <a:ext cx="1172451" cy="1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PII 유출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2" name="Text 196"/>
          <p:cNvSpPr txBox="1"/>
          <p:nvPr/>
        </p:nvSpPr>
        <p:spPr>
          <a:xfrm>
            <a:off x="3559084" y="17216846"/>
            <a:ext cx="1172451" cy="1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3" name="Shape 197"/>
          <p:cNvSpPr/>
          <p:nvPr/>
        </p:nvSpPr>
        <p:spPr>
          <a:xfrm>
            <a:off x="4877856" y="16680993"/>
            <a:ext cx="1347850" cy="802556"/>
          </a:xfrm>
          <a:prstGeom prst="roundRect">
            <a:avLst>
              <a:gd name="adj" fmla="val 14518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4" name="Text 198"/>
          <p:cNvSpPr txBox="1"/>
          <p:nvPr/>
        </p:nvSpPr>
        <p:spPr>
          <a:xfrm>
            <a:off x="4965087" y="16782536"/>
            <a:ext cx="68471" cy="17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5" name="Text 199"/>
          <p:cNvSpPr txBox="1"/>
          <p:nvPr/>
        </p:nvSpPr>
        <p:spPr>
          <a:xfrm>
            <a:off x="5088897" y="16782536"/>
            <a:ext cx="136942" cy="17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S2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6" name="Text 200"/>
          <p:cNvSpPr txBox="1"/>
          <p:nvPr/>
        </p:nvSpPr>
        <p:spPr>
          <a:xfrm>
            <a:off x="4965087" y="16999080"/>
            <a:ext cx="1172451" cy="1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Credential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7" name="Text 201"/>
          <p:cNvSpPr txBox="1"/>
          <p:nvPr/>
        </p:nvSpPr>
        <p:spPr>
          <a:xfrm>
            <a:off x="4965087" y="17216846"/>
            <a:ext cx="1172451" cy="1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8" name="Shape 202"/>
          <p:cNvSpPr/>
          <p:nvPr/>
        </p:nvSpPr>
        <p:spPr>
          <a:xfrm>
            <a:off x="6284797" y="16680993"/>
            <a:ext cx="1347850" cy="802556"/>
          </a:xfrm>
          <a:prstGeom prst="roundRect">
            <a:avLst>
              <a:gd name="adj" fmla="val 14518"/>
            </a:avLst>
          </a:prstGeom>
          <a:solidFill>
            <a:srgbClr val="EF4444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Text 203"/>
          <p:cNvSpPr txBox="1"/>
          <p:nvPr/>
        </p:nvSpPr>
        <p:spPr>
          <a:xfrm>
            <a:off x="6372028" y="16782536"/>
            <a:ext cx="68471" cy="17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0" name="Text 204"/>
          <p:cNvSpPr txBox="1"/>
          <p:nvPr/>
        </p:nvSpPr>
        <p:spPr>
          <a:xfrm>
            <a:off x="6495838" y="16782536"/>
            <a:ext cx="136942" cy="17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S4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1" name="Text 205"/>
          <p:cNvSpPr txBox="1"/>
          <p:nvPr/>
        </p:nvSpPr>
        <p:spPr>
          <a:xfrm>
            <a:off x="6372028" y="16999080"/>
            <a:ext cx="1172451" cy="1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전달</a:t>
            </a:r>
            <a:endParaRPr lang="en-US" sz="1000" dirty="0"/>
          </a:p>
        </p:txBody>
      </p:sp>
      <p:sp>
        <p:nvSpPr>
          <p:cNvPr id="222" name="Text 206"/>
          <p:cNvSpPr txBox="1"/>
          <p:nvPr/>
        </p:nvSpPr>
        <p:spPr>
          <a:xfrm>
            <a:off x="6372028" y="17216846"/>
            <a:ext cx="1172451" cy="1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</a:t>
            </a:r>
            <a:endParaRPr lang="en-US" sz="1000" dirty="0"/>
          </a:p>
        </p:txBody>
      </p:sp>
      <p:sp>
        <p:nvSpPr>
          <p:cNvPr id="223" name="Text 207"/>
          <p:cNvSpPr txBox="1"/>
          <p:nvPr/>
        </p:nvSpPr>
        <p:spPr>
          <a:xfrm>
            <a:off x="637336" y="17650144"/>
            <a:ext cx="6996249" cy="1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RATIONALE</a:t>
            </a:r>
            <a:r>
              <a:rPr lang="en-US" sz="9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시스템 탈취(S3)는 후속 모든 위협을 유발 → 최우선 · 자격증명 노출(S2)은 패턴 매칭으로 후처리 가능</a:t>
            </a:r>
            <a:endParaRPr lang="en-US" sz="900" dirty="0"/>
          </a:p>
        </p:txBody>
      </p:sp>
      <p:sp>
        <p:nvSpPr>
          <p:cNvPr id="225" name="Text 209"/>
          <p:cNvSpPr txBox="1"/>
          <p:nvPr/>
        </p:nvSpPr>
        <p:spPr>
          <a:xfrm>
            <a:off x="8368903" y="3100923"/>
            <a:ext cx="7049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b="1" dirty="0" err="1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</a:rPr>
              <a:t>파인튜닝</a:t>
            </a:r>
            <a:r>
              <a:rPr lang="ko-KR" altLang="en-US" sz="20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</a:rPr>
              <a:t> 결과</a:t>
            </a:r>
            <a:endParaRPr lang="en-US" sz="2000" dirty="0"/>
          </a:p>
        </p:txBody>
      </p:sp>
      <p:sp>
        <p:nvSpPr>
          <p:cNvPr id="226" name="Text 210"/>
          <p:cNvSpPr txBox="1"/>
          <p:nvPr/>
        </p:nvSpPr>
        <p:spPr>
          <a:xfrm>
            <a:off x="8388106" y="3488911"/>
            <a:ext cx="7049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반복 개선 → 모델 </a:t>
            </a:r>
            <a:r>
              <a:rPr lang="en-US" sz="105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</a:t>
            </a: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r>
              <a:rPr lang="ko-KR" alt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sz="105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</a:t>
            </a:r>
            <a:endParaRPr lang="en-US" sz="1050" dirty="0"/>
          </a:p>
        </p:txBody>
      </p:sp>
      <p:sp>
        <p:nvSpPr>
          <p:cNvPr id="227" name="Text 211"/>
          <p:cNvSpPr txBox="1"/>
          <p:nvPr/>
        </p:nvSpPr>
        <p:spPr>
          <a:xfrm>
            <a:off x="8540811" y="3863533"/>
            <a:ext cx="50840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FIG. 1</a:t>
            </a:r>
            <a:endParaRPr lang="en-US" sz="800" dirty="0"/>
          </a:p>
        </p:txBody>
      </p:sp>
      <p:sp>
        <p:nvSpPr>
          <p:cNvPr id="228" name="Text 212"/>
          <p:cNvSpPr txBox="1"/>
          <p:nvPr/>
        </p:nvSpPr>
        <p:spPr>
          <a:xfrm>
            <a:off x="9039159" y="3835186"/>
            <a:ext cx="31080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프롬프트 </a:t>
            </a:r>
            <a:r>
              <a:rPr lang="en-US" sz="900" b="1" dirty="0" err="1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</a:t>
            </a:r>
            <a:r>
              <a:rPr lang="en-US" sz="9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b="1" dirty="0" err="1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</a:t>
            </a:r>
            <a:r>
              <a:rPr lang="ko-KR" altLang="en-US" sz="9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통한 성능개선</a:t>
            </a:r>
            <a:endParaRPr lang="en-US" sz="900" dirty="0"/>
          </a:p>
        </p:txBody>
      </p:sp>
      <p:pic>
        <p:nvPicPr>
          <p:cNvPr id="229" name="Image 14" descr="gen-dedup-2d36cda07bf83f080d4427e038da1143.jpg"/>
          <p:cNvPicPr>
            <a:picLocks noChangeAspect="1"/>
          </p:cNvPicPr>
          <p:nvPr/>
        </p:nvPicPr>
        <p:blipFill>
          <a:blip r:embed="rId6"/>
          <a:srcRect t="23742" b="23742"/>
          <a:stretch/>
        </p:blipFill>
        <p:spPr>
          <a:xfrm>
            <a:off x="8540811" y="4063786"/>
            <a:ext cx="6686093" cy="1638605"/>
          </a:xfrm>
          <a:prstGeom prst="rect">
            <a:avLst/>
          </a:prstGeom>
        </p:spPr>
      </p:pic>
      <p:sp>
        <p:nvSpPr>
          <p:cNvPr id="230" name="Text 213"/>
          <p:cNvSpPr txBox="1"/>
          <p:nvPr/>
        </p:nvSpPr>
        <p:spPr>
          <a:xfrm>
            <a:off x="8540812" y="5778286"/>
            <a:ext cx="6691168" cy="36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spc="-100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 1.</a:t>
            </a:r>
            <a:r>
              <a:rPr lang="en-US" sz="1000" i="1" spc="-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시스템 프롬프트 반복 개선에 따른 성능 변화. v2에서 우선순위 규칙 추가로 +18.8%p 향상, v4에서 S5/S3 판별 기준 명시 및 safe 판별 기준 강화로 FPR 0% 달성.</a:t>
            </a:r>
            <a:endParaRPr lang="en-US" sz="1000" spc="-100" dirty="0"/>
          </a:p>
        </p:txBody>
      </p:sp>
      <p:sp>
        <p:nvSpPr>
          <p:cNvPr id="231" name="Text 214"/>
          <p:cNvSpPr txBox="1"/>
          <p:nvPr/>
        </p:nvSpPr>
        <p:spPr>
          <a:xfrm>
            <a:off x="8540811" y="6550040"/>
            <a:ext cx="50840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FIG. 2</a:t>
            </a:r>
            <a:endParaRPr lang="en-US" sz="800" dirty="0"/>
          </a:p>
        </p:txBody>
      </p:sp>
      <p:sp>
        <p:nvSpPr>
          <p:cNvPr id="232" name="Text 215"/>
          <p:cNvSpPr txBox="1"/>
          <p:nvPr/>
        </p:nvSpPr>
        <p:spPr>
          <a:xfrm>
            <a:off x="9039159" y="6521693"/>
            <a:ext cx="15773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카테고리별</a:t>
            </a:r>
            <a:r>
              <a:rPr lang="en-US" sz="9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F-1 Score</a:t>
            </a:r>
            <a:endParaRPr lang="en-US" sz="900" dirty="0"/>
          </a:p>
        </p:txBody>
      </p:sp>
      <p:pic>
        <p:nvPicPr>
          <p:cNvPr id="233" name="Image 15" descr="gen-dedup-41369ce909428dfcd91173de93af0e07.jpg"/>
          <p:cNvPicPr>
            <a:picLocks noChangeAspect="1"/>
          </p:cNvPicPr>
          <p:nvPr/>
        </p:nvPicPr>
        <p:blipFill>
          <a:blip r:embed="rId7"/>
          <a:srcRect t="28821" b="28821"/>
          <a:stretch/>
        </p:blipFill>
        <p:spPr>
          <a:xfrm>
            <a:off x="8540811" y="6750293"/>
            <a:ext cx="6686093" cy="1447495"/>
          </a:xfrm>
          <a:prstGeom prst="rect">
            <a:avLst/>
          </a:prstGeom>
        </p:spPr>
      </p:pic>
      <p:sp>
        <p:nvSpPr>
          <p:cNvPr id="234" name="Text 216"/>
          <p:cNvSpPr txBox="1"/>
          <p:nvPr/>
        </p:nvSpPr>
        <p:spPr>
          <a:xfrm>
            <a:off x="8540811" y="8273683"/>
            <a:ext cx="6687007" cy="351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 2.</a:t>
            </a: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v4 기준 </a:t>
            </a:r>
            <a:r>
              <a:rPr lang="en-US" sz="1000" i="1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카테고리별</a:t>
            </a: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F-1 점수. S2(Credential), S3(Prompt Injection), S5(시스템 추출)에서 F1 1.000 달성. 점선은 목표 F1 ≥ 0.90.</a:t>
            </a:r>
            <a:endParaRPr lang="en-US" sz="1000" dirty="0"/>
          </a:p>
        </p:txBody>
      </p:sp>
      <p:sp>
        <p:nvSpPr>
          <p:cNvPr id="235" name="Text 217"/>
          <p:cNvSpPr txBox="1"/>
          <p:nvPr/>
        </p:nvSpPr>
        <p:spPr>
          <a:xfrm>
            <a:off x="8540811" y="8988745"/>
            <a:ext cx="50840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FIG. 3</a:t>
            </a:r>
            <a:endParaRPr lang="en-US" sz="800" dirty="0"/>
          </a:p>
        </p:txBody>
      </p:sp>
      <p:sp>
        <p:nvSpPr>
          <p:cNvPr id="236" name="Text 218"/>
          <p:cNvSpPr txBox="1"/>
          <p:nvPr/>
        </p:nvSpPr>
        <p:spPr>
          <a:xfrm>
            <a:off x="9039159" y="8959484"/>
            <a:ext cx="210860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비교 — F1 · FPR · 추론 지연</a:t>
            </a:r>
            <a:endParaRPr lang="en-US" sz="900" dirty="0"/>
          </a:p>
        </p:txBody>
      </p:sp>
      <p:pic>
        <p:nvPicPr>
          <p:cNvPr id="237" name="Image 16" descr="gen-dedup-efe60cf3d756522861baecde0ec90f81.jpg"/>
          <p:cNvPicPr>
            <a:picLocks noChangeAspect="1"/>
          </p:cNvPicPr>
          <p:nvPr/>
        </p:nvPicPr>
        <p:blipFill>
          <a:blip r:embed="rId8"/>
          <a:srcRect t="25132" b="25132"/>
          <a:stretch/>
        </p:blipFill>
        <p:spPr>
          <a:xfrm>
            <a:off x="8540811" y="9188084"/>
            <a:ext cx="6686093" cy="1390802"/>
          </a:xfrm>
          <a:prstGeom prst="rect">
            <a:avLst/>
          </a:prstGeom>
        </p:spPr>
      </p:pic>
      <p:sp>
        <p:nvSpPr>
          <p:cNvPr id="238" name="Text 219"/>
          <p:cNvSpPr txBox="1"/>
          <p:nvPr/>
        </p:nvSpPr>
        <p:spPr>
          <a:xfrm>
            <a:off x="8540811" y="10714089"/>
            <a:ext cx="66870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 3.</a:t>
            </a: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한국어 Tool Call 환경에서의 모델 비교. Llama Guard 3 대비 F1 +53%p 향상(0.61→0.940), FPR 11.2%→0.0% 달성.</a:t>
            </a:r>
            <a:endParaRPr lang="en-US" sz="1000" dirty="0"/>
          </a:p>
        </p:txBody>
      </p:sp>
      <p:sp>
        <p:nvSpPr>
          <p:cNvPr id="239" name="Text 220"/>
          <p:cNvSpPr txBox="1"/>
          <p:nvPr/>
        </p:nvSpPr>
        <p:spPr>
          <a:xfrm>
            <a:off x="8502406" y="11378986"/>
            <a:ext cx="50840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FIG. 4</a:t>
            </a:r>
            <a:endParaRPr lang="en-US" sz="800" dirty="0"/>
          </a:p>
        </p:txBody>
      </p:sp>
      <p:sp>
        <p:nvSpPr>
          <p:cNvPr id="240" name="Text 221"/>
          <p:cNvSpPr txBox="1"/>
          <p:nvPr/>
        </p:nvSpPr>
        <p:spPr>
          <a:xfrm>
            <a:off x="8962349" y="11359784"/>
            <a:ext cx="17638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 err="1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혼동</a:t>
            </a:r>
            <a:r>
              <a:rPr lang="en-US" sz="8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00" b="1" dirty="0" err="1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행렬</a:t>
            </a:r>
            <a:r>
              <a:rPr lang="en-US" altLang="ko-KR" sz="8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(Confusion Matrix)</a:t>
            </a:r>
            <a:endParaRPr lang="en-US" sz="800" dirty="0"/>
          </a:p>
        </p:txBody>
      </p:sp>
      <p:pic>
        <p:nvPicPr>
          <p:cNvPr id="241" name="Image 17" descr="gen-dedup-a6be98a7ca210921c9d0cfb9654f3292.jpg"/>
          <p:cNvPicPr>
            <a:picLocks noChangeAspect="1"/>
          </p:cNvPicPr>
          <p:nvPr/>
        </p:nvPicPr>
        <p:blipFill>
          <a:blip r:embed="rId9"/>
          <a:srcRect t="13862" b="13862"/>
          <a:stretch/>
        </p:blipFill>
        <p:spPr>
          <a:xfrm>
            <a:off x="8502406" y="11588384"/>
            <a:ext cx="3238805" cy="1828800"/>
          </a:xfrm>
          <a:prstGeom prst="rect">
            <a:avLst/>
          </a:prstGeom>
        </p:spPr>
      </p:pic>
      <p:sp>
        <p:nvSpPr>
          <p:cNvPr id="242" name="Text 222"/>
          <p:cNvSpPr txBox="1"/>
          <p:nvPr/>
        </p:nvSpPr>
        <p:spPr>
          <a:xfrm>
            <a:off x="8502406" y="13493993"/>
            <a:ext cx="3238805" cy="41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 4.</a:t>
            </a: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정확도 94.0%, FPR 0.0%. 잔여 오류 3건은 S4↔S1 경계 케이스로 실용적 관점에서 허용 가능.</a:t>
            </a:r>
            <a:endParaRPr lang="en-US" sz="1000" dirty="0"/>
          </a:p>
        </p:txBody>
      </p:sp>
      <p:sp>
        <p:nvSpPr>
          <p:cNvPr id="243" name="Text 223"/>
          <p:cNvSpPr txBox="1"/>
          <p:nvPr/>
        </p:nvSpPr>
        <p:spPr>
          <a:xfrm>
            <a:off x="12045706" y="11378986"/>
            <a:ext cx="50840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FIG. 5</a:t>
            </a:r>
            <a:endParaRPr lang="en-US" sz="800" dirty="0"/>
          </a:p>
        </p:txBody>
      </p:sp>
      <p:sp>
        <p:nvSpPr>
          <p:cNvPr id="244" name="Text 224"/>
          <p:cNvSpPr txBox="1"/>
          <p:nvPr/>
        </p:nvSpPr>
        <p:spPr>
          <a:xfrm>
            <a:off x="12505649" y="11359784"/>
            <a:ext cx="2012456" cy="166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</a:rPr>
              <a:t>Kanana Fine-Tuned </a:t>
            </a:r>
            <a:r>
              <a:rPr lang="ko-KR" altLang="en-US" sz="8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</a:rPr>
              <a:t>모델의 추론속도 우위</a:t>
            </a:r>
            <a:endParaRPr lang="en-US" sz="800" dirty="0"/>
          </a:p>
        </p:txBody>
      </p:sp>
      <p:pic>
        <p:nvPicPr>
          <p:cNvPr id="245" name="Image 18" descr="gen-dedup-e7b38c95253d286bc583d35c8221284f.jpg"/>
          <p:cNvPicPr>
            <a:picLocks noChangeAspect="1"/>
          </p:cNvPicPr>
          <p:nvPr/>
        </p:nvPicPr>
        <p:blipFill>
          <a:blip r:embed="rId10"/>
          <a:srcRect t="10474" b="10474"/>
          <a:stretch/>
        </p:blipFill>
        <p:spPr>
          <a:xfrm>
            <a:off x="12045706" y="11588384"/>
            <a:ext cx="3238805" cy="1828800"/>
          </a:xfrm>
          <a:prstGeom prst="rect">
            <a:avLst/>
          </a:prstGeom>
        </p:spPr>
      </p:pic>
      <p:sp>
        <p:nvSpPr>
          <p:cNvPr id="246" name="Text 225"/>
          <p:cNvSpPr txBox="1"/>
          <p:nvPr/>
        </p:nvSpPr>
        <p:spPr>
          <a:xfrm>
            <a:off x="12045706" y="13493993"/>
            <a:ext cx="3238805" cy="41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1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 5.</a:t>
            </a: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v4는 FPR·FNR 축에서 완전한 성능. Kanana 파인튜닝 모델은 추론 속도에서 우위.</a:t>
            </a:r>
            <a:endParaRPr lang="en-US" sz="1000" dirty="0"/>
          </a:p>
        </p:txBody>
      </p:sp>
      <p:sp>
        <p:nvSpPr>
          <p:cNvPr id="247" name="Text 226"/>
          <p:cNvSpPr txBox="1"/>
          <p:nvPr/>
        </p:nvSpPr>
        <p:spPr>
          <a:xfrm>
            <a:off x="8540811" y="14408393"/>
            <a:ext cx="66870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KEY FINDING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48" name="Text 227"/>
          <p:cNvSpPr txBox="1"/>
          <p:nvPr/>
        </p:nvSpPr>
        <p:spPr>
          <a:xfrm>
            <a:off x="8540811" y="14560184"/>
            <a:ext cx="6687007" cy="62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spc="-1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Llama Guard 3 대비 한국어 환경에서 </a:t>
            </a:r>
            <a:r>
              <a:rPr lang="en-US" sz="1400" b="1" spc="-100" dirty="0">
                <a:solidFill>
                  <a:srgbClr val="F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+53%p 향상 (0.61 → 0.940)</a:t>
            </a:r>
            <a:r>
              <a:rPr lang="en-US" sz="1400" spc="-100" dirty="0">
                <a:solidFill>
                  <a:srgbClr val="F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spc="-100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FPR을</a:t>
            </a:r>
            <a:r>
              <a:rPr lang="en-US" sz="1400" spc="-1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spc="-1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11.2% → 0.0%</a:t>
            </a:r>
            <a:r>
              <a:rPr lang="en-US" sz="1400" spc="-1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낮춰 운영 안정성 확보 · 프롬프트 </a:t>
            </a:r>
            <a:r>
              <a:rPr lang="en-US" sz="1400" spc="-100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</a:t>
            </a:r>
            <a:r>
              <a:rPr lang="en-US" sz="1400" spc="-1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spc="-100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</a:t>
            </a:r>
            <a:r>
              <a:rPr lang="ko-KR" altLang="en-US" sz="1400" spc="-1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통한</a:t>
            </a:r>
            <a:r>
              <a:rPr lang="en-US" sz="1400" spc="-1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400" spc="-1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비약적 성능향상</a:t>
            </a:r>
            <a:endParaRPr lang="en-US" sz="1400" spc="-100" dirty="0">
              <a:solidFill>
                <a:schemeClr val="bg1"/>
              </a:solidFill>
            </a:endParaRPr>
          </a:p>
        </p:txBody>
      </p:sp>
      <p:sp>
        <p:nvSpPr>
          <p:cNvPr id="249" name="Text 228"/>
          <p:cNvSpPr txBox="1"/>
          <p:nvPr/>
        </p:nvSpPr>
        <p:spPr>
          <a:xfrm>
            <a:off x="8388106" y="15585628"/>
            <a:ext cx="6991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· BENCHMARK</a:t>
            </a:r>
            <a:endParaRPr lang="en-US" sz="800" dirty="0"/>
          </a:p>
        </p:txBody>
      </p:sp>
      <p:grpSp>
        <p:nvGrpSpPr>
          <p:cNvPr id="365" name="그룹 364">
            <a:extLst>
              <a:ext uri="{FF2B5EF4-FFF2-40B4-BE49-F238E27FC236}">
                <a16:creationId xmlns:a16="http://schemas.microsoft.com/office/drawing/2014/main" id="{BB2B22D6-9BF5-40E5-1871-285FC42CCD42}"/>
              </a:ext>
            </a:extLst>
          </p:cNvPr>
          <p:cNvGrpSpPr/>
          <p:nvPr/>
        </p:nvGrpSpPr>
        <p:grpSpPr>
          <a:xfrm>
            <a:off x="8388106" y="15795026"/>
            <a:ext cx="6991502" cy="2599850"/>
            <a:chOff x="8388106" y="15284389"/>
            <a:chExt cx="6991502" cy="1542593"/>
          </a:xfrm>
        </p:grpSpPr>
        <p:sp>
          <p:nvSpPr>
            <p:cNvPr id="250" name="Shape 229"/>
            <p:cNvSpPr/>
            <p:nvPr/>
          </p:nvSpPr>
          <p:spPr>
            <a:xfrm>
              <a:off x="8388106" y="15284389"/>
              <a:ext cx="6991502" cy="1542593"/>
            </a:xfrm>
            <a:prstGeom prst="roundRect">
              <a:avLst>
                <a:gd name="adj" fmla="val 2927"/>
              </a:avLst>
            </a:prstGeom>
            <a:noFill/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51" name="Shape 230"/>
            <p:cNvSpPr/>
            <p:nvPr/>
          </p:nvSpPr>
          <p:spPr>
            <a:xfrm>
              <a:off x="8398164" y="15293533"/>
              <a:ext cx="6972300" cy="276149"/>
            </a:xfrm>
            <a:prstGeom prst="roundRect">
              <a:avLst>
                <a:gd name="adj" fmla="val 91345"/>
              </a:avLst>
            </a:prstGeom>
            <a:solidFill>
              <a:srgbClr val="0A162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52" name="Text 231"/>
            <p:cNvSpPr txBox="1"/>
            <p:nvPr/>
          </p:nvSpPr>
          <p:spPr>
            <a:xfrm>
              <a:off x="8398164" y="15293533"/>
              <a:ext cx="2095805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모델</a:t>
              </a:r>
              <a:endParaRPr lang="en-US" sz="1200" dirty="0"/>
            </a:p>
          </p:txBody>
        </p:sp>
        <p:sp>
          <p:nvSpPr>
            <p:cNvPr id="253" name="Text 232"/>
            <p:cNvSpPr txBox="1"/>
            <p:nvPr/>
          </p:nvSpPr>
          <p:spPr>
            <a:xfrm>
              <a:off x="10493055" y="15293533"/>
              <a:ext cx="104790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F1 Macro</a:t>
              </a:r>
              <a:endParaRPr lang="en-US" sz="1200" dirty="0"/>
            </a:p>
          </p:txBody>
        </p:sp>
        <p:sp>
          <p:nvSpPr>
            <p:cNvPr id="254" name="Text 233"/>
            <p:cNvSpPr txBox="1"/>
            <p:nvPr/>
          </p:nvSpPr>
          <p:spPr>
            <a:xfrm>
              <a:off x="11540957" y="15293533"/>
              <a:ext cx="952805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FPR</a:t>
              </a:r>
              <a:endParaRPr lang="en-US" sz="1200" dirty="0"/>
            </a:p>
          </p:txBody>
        </p:sp>
        <p:sp>
          <p:nvSpPr>
            <p:cNvPr id="255" name="Text 234"/>
            <p:cNvSpPr txBox="1"/>
            <p:nvPr/>
          </p:nvSpPr>
          <p:spPr>
            <a:xfrm>
              <a:off x="12493762" y="15293533"/>
              <a:ext cx="104790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지연(ms)</a:t>
              </a:r>
              <a:endParaRPr lang="en-US" sz="1200" dirty="0"/>
            </a:p>
          </p:txBody>
        </p:sp>
        <p:sp>
          <p:nvSpPr>
            <p:cNvPr id="256" name="Text 235"/>
            <p:cNvSpPr txBox="1"/>
            <p:nvPr/>
          </p:nvSpPr>
          <p:spPr>
            <a:xfrm>
              <a:off x="13541664" y="15293533"/>
              <a:ext cx="182880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비고</a:t>
              </a:r>
              <a:endParaRPr lang="en-US" sz="1200" dirty="0"/>
            </a:p>
          </p:txBody>
        </p:sp>
        <p:sp>
          <p:nvSpPr>
            <p:cNvPr id="257" name="Shape 236"/>
            <p:cNvSpPr/>
            <p:nvPr/>
          </p:nvSpPr>
          <p:spPr>
            <a:xfrm>
              <a:off x="8398164" y="15569681"/>
              <a:ext cx="6972300" cy="314554"/>
            </a:xfrm>
            <a:prstGeom prst="rect">
              <a:avLst/>
            </a:prstGeom>
            <a:solidFill>
              <a:srgbClr val="FEF2F2"/>
            </a:solidFill>
            <a:ln/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58" name="Shape 237"/>
            <p:cNvSpPr/>
            <p:nvPr/>
          </p:nvSpPr>
          <p:spPr>
            <a:xfrm>
              <a:off x="8398164" y="15875091"/>
              <a:ext cx="6972300" cy="9144"/>
            </a:xfrm>
            <a:prstGeom prst="rect">
              <a:avLst/>
            </a:prstGeom>
            <a:solidFill>
              <a:srgbClr val="FEE2E2"/>
            </a:solidFill>
            <a:ln w="12700">
              <a:solidFill>
                <a:srgbClr val="FEE2E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59" name="Text 238"/>
            <p:cNvSpPr txBox="1"/>
            <p:nvPr/>
          </p:nvSpPr>
          <p:spPr>
            <a:xfrm>
              <a:off x="8398164" y="15569681"/>
              <a:ext cx="209580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Llama Guard 3</a:t>
              </a:r>
              <a:endParaRPr lang="en-US" sz="1200" dirty="0"/>
            </a:p>
          </p:txBody>
        </p:sp>
        <p:sp>
          <p:nvSpPr>
            <p:cNvPr id="260" name="Text 239"/>
            <p:cNvSpPr txBox="1"/>
            <p:nvPr/>
          </p:nvSpPr>
          <p:spPr>
            <a:xfrm>
              <a:off x="10493055" y="15569681"/>
              <a:ext cx="104790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F444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0.61</a:t>
              </a:r>
              <a:endParaRPr lang="en-US" sz="1200" dirty="0"/>
            </a:p>
          </p:txBody>
        </p:sp>
        <p:sp>
          <p:nvSpPr>
            <p:cNvPr id="261" name="Text 240"/>
            <p:cNvSpPr txBox="1"/>
            <p:nvPr/>
          </p:nvSpPr>
          <p:spPr>
            <a:xfrm>
              <a:off x="11540957" y="15569681"/>
              <a:ext cx="95280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F444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11.2%</a:t>
              </a:r>
              <a:endParaRPr lang="en-US" sz="1200" dirty="0"/>
            </a:p>
          </p:txBody>
        </p:sp>
        <p:sp>
          <p:nvSpPr>
            <p:cNvPr id="262" name="Text 241"/>
            <p:cNvSpPr txBox="1"/>
            <p:nvPr/>
          </p:nvSpPr>
          <p:spPr>
            <a:xfrm>
              <a:off x="12493762" y="15569681"/>
              <a:ext cx="104790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A162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800</a:t>
              </a:r>
              <a:endParaRPr lang="en-US" sz="1200" dirty="0"/>
            </a:p>
          </p:txBody>
        </p:sp>
        <p:sp>
          <p:nvSpPr>
            <p:cNvPr id="263" name="Text 242"/>
            <p:cNvSpPr txBox="1"/>
            <p:nvPr/>
          </p:nvSpPr>
          <p:spPr>
            <a:xfrm>
              <a:off x="13541664" y="15569681"/>
              <a:ext cx="1828800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영어, 한국어 베이스라인</a:t>
              </a:r>
              <a:endParaRPr lang="en-US" sz="1200" dirty="0"/>
            </a:p>
          </p:txBody>
        </p:sp>
        <p:sp>
          <p:nvSpPr>
            <p:cNvPr id="264" name="Shape 243"/>
            <p:cNvSpPr/>
            <p:nvPr/>
          </p:nvSpPr>
          <p:spPr>
            <a:xfrm>
              <a:off x="8398164" y="15884235"/>
              <a:ext cx="6972300" cy="314554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65" name="Shape 244"/>
            <p:cNvSpPr/>
            <p:nvPr/>
          </p:nvSpPr>
          <p:spPr>
            <a:xfrm>
              <a:off x="8398164" y="16189645"/>
              <a:ext cx="6972300" cy="9144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66" name="Text 245"/>
            <p:cNvSpPr txBox="1"/>
            <p:nvPr/>
          </p:nvSpPr>
          <p:spPr>
            <a:xfrm>
              <a:off x="8398164" y="15884235"/>
              <a:ext cx="209580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Kanana-2.1B SFT</a:t>
              </a:r>
              <a:endParaRPr lang="en-US" sz="1200" dirty="0"/>
            </a:p>
          </p:txBody>
        </p:sp>
        <p:sp>
          <p:nvSpPr>
            <p:cNvPr id="267" name="Text 246"/>
            <p:cNvSpPr txBox="1"/>
            <p:nvPr/>
          </p:nvSpPr>
          <p:spPr>
            <a:xfrm>
              <a:off x="10493055" y="15884235"/>
              <a:ext cx="104790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A162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0.81</a:t>
              </a:r>
              <a:endParaRPr lang="en-US" sz="1200" dirty="0"/>
            </a:p>
          </p:txBody>
        </p:sp>
        <p:sp>
          <p:nvSpPr>
            <p:cNvPr id="268" name="Text 247"/>
            <p:cNvSpPr txBox="1"/>
            <p:nvPr/>
          </p:nvSpPr>
          <p:spPr>
            <a:xfrm>
              <a:off x="11540957" y="15884235"/>
              <a:ext cx="95280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A162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6.2%</a:t>
              </a:r>
              <a:endParaRPr lang="en-US" sz="1200" dirty="0"/>
            </a:p>
          </p:txBody>
        </p:sp>
        <p:sp>
          <p:nvSpPr>
            <p:cNvPr id="269" name="Text 248"/>
            <p:cNvSpPr txBox="1"/>
            <p:nvPr/>
          </p:nvSpPr>
          <p:spPr>
            <a:xfrm>
              <a:off x="12493762" y="15884235"/>
              <a:ext cx="104790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C55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200</a:t>
              </a:r>
              <a:endParaRPr lang="en-US" sz="1200" dirty="0"/>
            </a:p>
          </p:txBody>
        </p:sp>
        <p:sp>
          <p:nvSpPr>
            <p:cNvPr id="270" name="Text 249"/>
            <p:cNvSpPr txBox="1"/>
            <p:nvPr/>
          </p:nvSpPr>
          <p:spPr>
            <a:xfrm>
              <a:off x="13541664" y="15884235"/>
              <a:ext cx="1828800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경량 · 최고 속도</a:t>
              </a:r>
              <a:endParaRPr lang="en-US" sz="1200" dirty="0"/>
            </a:p>
          </p:txBody>
        </p:sp>
        <p:sp>
          <p:nvSpPr>
            <p:cNvPr id="271" name="Shape 250"/>
            <p:cNvSpPr/>
            <p:nvPr/>
          </p:nvSpPr>
          <p:spPr>
            <a:xfrm>
              <a:off x="8398164" y="16198789"/>
              <a:ext cx="6972300" cy="314554"/>
            </a:xfrm>
            <a:prstGeom prst="rect">
              <a:avLst/>
            </a:prstGeom>
            <a:solidFill>
              <a:srgbClr val="F8FAFC"/>
            </a:solidFill>
            <a:ln/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72" name="Shape 251"/>
            <p:cNvSpPr/>
            <p:nvPr/>
          </p:nvSpPr>
          <p:spPr>
            <a:xfrm>
              <a:off x="8398164" y="16504198"/>
              <a:ext cx="6972300" cy="9144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73" name="Text 252"/>
            <p:cNvSpPr txBox="1"/>
            <p:nvPr/>
          </p:nvSpPr>
          <p:spPr>
            <a:xfrm>
              <a:off x="8398164" y="16198789"/>
              <a:ext cx="209580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Kanana-8B SFT</a:t>
              </a:r>
              <a:endParaRPr lang="en-US" sz="1200" dirty="0"/>
            </a:p>
          </p:txBody>
        </p:sp>
        <p:sp>
          <p:nvSpPr>
            <p:cNvPr id="274" name="Text 253"/>
            <p:cNvSpPr txBox="1"/>
            <p:nvPr/>
          </p:nvSpPr>
          <p:spPr>
            <a:xfrm>
              <a:off x="10493055" y="16198789"/>
              <a:ext cx="104790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A162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0.87</a:t>
              </a:r>
              <a:endParaRPr lang="en-US" sz="1200" dirty="0"/>
            </a:p>
          </p:txBody>
        </p:sp>
        <p:sp>
          <p:nvSpPr>
            <p:cNvPr id="275" name="Text 254"/>
            <p:cNvSpPr txBox="1"/>
            <p:nvPr/>
          </p:nvSpPr>
          <p:spPr>
            <a:xfrm>
              <a:off x="11540957" y="16198789"/>
              <a:ext cx="95280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A162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3.0%</a:t>
              </a:r>
              <a:endParaRPr lang="en-US" sz="1200" dirty="0"/>
            </a:p>
          </p:txBody>
        </p:sp>
        <p:sp>
          <p:nvSpPr>
            <p:cNvPr id="276" name="Text 255"/>
            <p:cNvSpPr txBox="1"/>
            <p:nvPr/>
          </p:nvSpPr>
          <p:spPr>
            <a:xfrm>
              <a:off x="12493762" y="16198789"/>
              <a:ext cx="104790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A162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500</a:t>
              </a:r>
              <a:endParaRPr lang="en-US" sz="1200" dirty="0"/>
            </a:p>
          </p:txBody>
        </p:sp>
        <p:sp>
          <p:nvSpPr>
            <p:cNvPr id="277" name="Text 256"/>
            <p:cNvSpPr txBox="1"/>
            <p:nvPr/>
          </p:nvSpPr>
          <p:spPr>
            <a:xfrm>
              <a:off x="13541664" y="16198789"/>
              <a:ext cx="1828800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대형 · F1 최고</a:t>
              </a:r>
              <a:endParaRPr lang="en-US" sz="1200" dirty="0"/>
            </a:p>
          </p:txBody>
        </p:sp>
        <p:sp>
          <p:nvSpPr>
            <p:cNvPr id="278" name="Shape 257"/>
            <p:cNvSpPr/>
            <p:nvPr/>
          </p:nvSpPr>
          <p:spPr>
            <a:xfrm>
              <a:off x="8398164" y="16513342"/>
              <a:ext cx="6972300" cy="304495"/>
            </a:xfrm>
            <a:prstGeom prst="roundRect">
              <a:avLst>
                <a:gd name="adj" fmla="val 75075"/>
              </a:avLst>
            </a:prstGeom>
            <a:solidFill>
              <a:srgbClr val="3182F6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3600"/>
            </a:p>
          </p:txBody>
        </p:sp>
        <p:sp>
          <p:nvSpPr>
            <p:cNvPr id="279" name="Text 258"/>
            <p:cNvSpPr txBox="1"/>
            <p:nvPr/>
          </p:nvSpPr>
          <p:spPr>
            <a:xfrm>
              <a:off x="8398164" y="16513342"/>
              <a:ext cx="209580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1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Prototype v4 ★</a:t>
              </a:r>
              <a:endParaRPr lang="en-US" sz="1200" dirty="0"/>
            </a:p>
          </p:txBody>
        </p:sp>
        <p:sp>
          <p:nvSpPr>
            <p:cNvPr id="280" name="Text 259"/>
            <p:cNvSpPr txBox="1"/>
            <p:nvPr/>
          </p:nvSpPr>
          <p:spPr>
            <a:xfrm>
              <a:off x="10493055" y="16513342"/>
              <a:ext cx="104790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182F6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0.94</a:t>
              </a:r>
              <a:endParaRPr lang="en-US" sz="1200" dirty="0"/>
            </a:p>
          </p:txBody>
        </p:sp>
        <p:sp>
          <p:nvSpPr>
            <p:cNvPr id="281" name="Text 260"/>
            <p:cNvSpPr txBox="1"/>
            <p:nvPr/>
          </p:nvSpPr>
          <p:spPr>
            <a:xfrm>
              <a:off x="11540957" y="16513342"/>
              <a:ext cx="95280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C55E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0.0%</a:t>
              </a:r>
              <a:endParaRPr lang="en-US" sz="1200" dirty="0"/>
            </a:p>
          </p:txBody>
        </p:sp>
        <p:sp>
          <p:nvSpPr>
            <p:cNvPr id="282" name="Text 261"/>
            <p:cNvSpPr txBox="1"/>
            <p:nvPr/>
          </p:nvSpPr>
          <p:spPr>
            <a:xfrm>
              <a:off x="12493762" y="16513342"/>
              <a:ext cx="104790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A162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1837</a:t>
              </a:r>
              <a:endParaRPr lang="en-US" sz="1200" dirty="0"/>
            </a:p>
          </p:txBody>
        </p:sp>
        <p:sp>
          <p:nvSpPr>
            <p:cNvPr id="283" name="Text 262"/>
            <p:cNvSpPr txBox="1"/>
            <p:nvPr/>
          </p:nvSpPr>
          <p:spPr>
            <a:xfrm>
              <a:off x="13541664" y="16513342"/>
              <a:ext cx="1828800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A162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기준선 · 오탐 0건</a:t>
              </a:r>
              <a:endParaRPr lang="en-US" sz="1200" dirty="0"/>
            </a:p>
          </p:txBody>
        </p:sp>
      </p:grpSp>
      <p:sp>
        <p:nvSpPr>
          <p:cNvPr id="285" name="Text 264"/>
          <p:cNvSpPr txBox="1"/>
          <p:nvPr/>
        </p:nvSpPr>
        <p:spPr>
          <a:xfrm>
            <a:off x="8388106" y="19129599"/>
            <a:ext cx="7049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spc="-1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기여</a:t>
            </a:r>
            <a:endParaRPr lang="en-US" sz="2000" spc="-100" dirty="0"/>
          </a:p>
        </p:txBody>
      </p:sp>
      <p:grpSp>
        <p:nvGrpSpPr>
          <p:cNvPr id="370" name="그룹 369">
            <a:extLst>
              <a:ext uri="{FF2B5EF4-FFF2-40B4-BE49-F238E27FC236}">
                <a16:creationId xmlns:a16="http://schemas.microsoft.com/office/drawing/2014/main" id="{782586BF-BAC3-2EB1-0698-C26094E57380}"/>
              </a:ext>
            </a:extLst>
          </p:cNvPr>
          <p:cNvGrpSpPr/>
          <p:nvPr/>
        </p:nvGrpSpPr>
        <p:grpSpPr>
          <a:xfrm>
            <a:off x="8400593" y="19574257"/>
            <a:ext cx="7049109" cy="1392923"/>
            <a:chOff x="8400593" y="19697090"/>
            <a:chExt cx="7049109" cy="705917"/>
          </a:xfrm>
        </p:grpSpPr>
        <p:sp>
          <p:nvSpPr>
            <p:cNvPr id="286" name="Shape 265"/>
            <p:cNvSpPr/>
            <p:nvPr/>
          </p:nvSpPr>
          <p:spPr>
            <a:xfrm>
              <a:off x="8400593" y="19697090"/>
              <a:ext cx="228600" cy="228600"/>
            </a:xfrm>
            <a:prstGeom prst="ellipse">
              <a:avLst/>
            </a:prstGeom>
            <a:solidFill>
              <a:srgbClr val="31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87" name="Text 266"/>
            <p:cNvSpPr/>
            <p:nvPr/>
          </p:nvSpPr>
          <p:spPr>
            <a:xfrm>
              <a:off x="8400593" y="1969709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88" name="Text 267"/>
            <p:cNvSpPr txBox="1"/>
            <p:nvPr/>
          </p:nvSpPr>
          <p:spPr>
            <a:xfrm>
              <a:off x="8724290" y="19697090"/>
              <a:ext cx="31053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한국어 Tool Call 보안 탐지 최초 가드레일</a:t>
              </a:r>
              <a:endParaRPr lang="en-US" sz="1200" dirty="0"/>
            </a:p>
          </p:txBody>
        </p:sp>
        <p:sp>
          <p:nvSpPr>
            <p:cNvPr id="289" name="Text 268"/>
            <p:cNvSpPr txBox="1"/>
            <p:nvPr/>
          </p:nvSpPr>
          <p:spPr>
            <a:xfrm>
              <a:off x="8724290" y="19858939"/>
              <a:ext cx="3105302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한국어 환경 + Tool Call 전용 분류기</a:t>
              </a:r>
              <a:endParaRPr lang="en-US" sz="1200" dirty="0"/>
            </a:p>
          </p:txBody>
        </p:sp>
        <p:sp>
          <p:nvSpPr>
            <p:cNvPr id="290" name="Shape 269"/>
            <p:cNvSpPr/>
            <p:nvPr/>
          </p:nvSpPr>
          <p:spPr>
            <a:xfrm>
              <a:off x="12020702" y="19697090"/>
              <a:ext cx="228600" cy="2286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solidFill>
                  <a:schemeClr val="bg1"/>
                </a:solidFill>
              </a:endParaRPr>
            </a:p>
          </p:txBody>
        </p:sp>
        <p:sp>
          <p:nvSpPr>
            <p:cNvPr id="291" name="Text 270"/>
            <p:cNvSpPr/>
            <p:nvPr/>
          </p:nvSpPr>
          <p:spPr>
            <a:xfrm>
              <a:off x="12020702" y="1969709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92" name="Text 271"/>
            <p:cNvSpPr txBox="1"/>
            <p:nvPr/>
          </p:nvSpPr>
          <p:spPr>
            <a:xfrm>
              <a:off x="12344400" y="19697090"/>
              <a:ext cx="31053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7,000건 한국어 합성 데이터셋 공개</a:t>
              </a:r>
              <a:endParaRPr lang="en-US" sz="1200" dirty="0"/>
            </a:p>
          </p:txBody>
        </p:sp>
        <p:sp>
          <p:nvSpPr>
            <p:cNvPr id="293" name="Text 272"/>
            <p:cNvSpPr txBox="1"/>
            <p:nvPr/>
          </p:nvSpPr>
          <p:spPr>
            <a:xfrm>
              <a:off x="12344400" y="19858939"/>
              <a:ext cx="3105302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HuggingFace · 6개 도메인 커버리지</a:t>
              </a:r>
              <a:endParaRPr lang="en-US" sz="1200" dirty="0"/>
            </a:p>
          </p:txBody>
        </p:sp>
        <p:sp>
          <p:nvSpPr>
            <p:cNvPr id="294" name="Shape 273"/>
            <p:cNvSpPr/>
            <p:nvPr/>
          </p:nvSpPr>
          <p:spPr>
            <a:xfrm>
              <a:off x="8400593" y="20097598"/>
              <a:ext cx="228600" cy="228600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95" name="Text 274"/>
            <p:cNvSpPr/>
            <p:nvPr/>
          </p:nvSpPr>
          <p:spPr>
            <a:xfrm>
              <a:off x="8400593" y="20097598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96" name="Text 275"/>
            <p:cNvSpPr txBox="1"/>
            <p:nvPr/>
          </p:nvSpPr>
          <p:spPr>
            <a:xfrm>
              <a:off x="8724290" y="20097598"/>
              <a:ext cx="31053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프롬프트 반복 개선 · FPR 0% 달성</a:t>
              </a:r>
              <a:endParaRPr lang="en-US" sz="1200" dirty="0"/>
            </a:p>
          </p:txBody>
        </p:sp>
        <p:sp>
          <p:nvSpPr>
            <p:cNvPr id="297" name="Text 276"/>
            <p:cNvSpPr txBox="1"/>
            <p:nvPr/>
          </p:nvSpPr>
          <p:spPr>
            <a:xfrm>
              <a:off x="8724290" y="20259446"/>
              <a:ext cx="3105302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오탐 0건 · 운영 환경 적용 가능</a:t>
              </a:r>
              <a:endParaRPr lang="en-US" sz="1200" dirty="0"/>
            </a:p>
          </p:txBody>
        </p:sp>
        <p:sp>
          <p:nvSpPr>
            <p:cNvPr id="298" name="Shape 277"/>
            <p:cNvSpPr/>
            <p:nvPr/>
          </p:nvSpPr>
          <p:spPr>
            <a:xfrm>
              <a:off x="12020702" y="20097598"/>
              <a:ext cx="228600" cy="2286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solidFill>
                  <a:schemeClr val="bg1"/>
                </a:solidFill>
              </a:endParaRPr>
            </a:p>
          </p:txBody>
        </p:sp>
        <p:sp>
          <p:nvSpPr>
            <p:cNvPr id="299" name="Text 278"/>
            <p:cNvSpPr/>
            <p:nvPr/>
          </p:nvSpPr>
          <p:spPr>
            <a:xfrm>
              <a:off x="12020702" y="20097598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00" name="Text 279"/>
            <p:cNvSpPr txBox="1"/>
            <p:nvPr/>
          </p:nvSpPr>
          <p:spPr>
            <a:xfrm>
              <a:off x="12344400" y="20097598"/>
              <a:ext cx="31053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2단계 파이프라인 · 라이브 데모 구현</a:t>
              </a:r>
              <a:endParaRPr lang="en-US" sz="1200" dirty="0"/>
            </a:p>
          </p:txBody>
        </p:sp>
        <p:sp>
          <p:nvSpPr>
            <p:cNvPr id="301" name="Text 280"/>
            <p:cNvSpPr txBox="1"/>
            <p:nvPr/>
          </p:nvSpPr>
          <p:spPr>
            <a:xfrm>
              <a:off x="12344400" y="20259446"/>
              <a:ext cx="3105302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실제 동작 시스템으로 검증</a:t>
              </a:r>
              <a:endParaRPr lang="en-US" sz="1200" dirty="0"/>
            </a:p>
          </p:txBody>
        </p:sp>
      </p:grpSp>
      <p:sp>
        <p:nvSpPr>
          <p:cNvPr id="303" name="Text 282"/>
          <p:cNvSpPr txBox="1"/>
          <p:nvPr/>
        </p:nvSpPr>
        <p:spPr>
          <a:xfrm>
            <a:off x="8398784" y="21465519"/>
            <a:ext cx="2134210" cy="26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Kanana-8B DPO</a:t>
            </a:r>
            <a:r>
              <a:rPr lang="ko-KR" altLang="en-US" sz="1000" b="1" dirty="0" err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r>
              <a:rPr lang="ko-KR" alt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통한 </a:t>
            </a:r>
            <a:r>
              <a:rPr lang="ko-KR" altLang="en-US" sz="1000" b="1" dirty="0" err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과탐</a:t>
            </a:r>
            <a:r>
              <a:rPr lang="ko-KR" alt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감소</a:t>
            </a:r>
            <a:endParaRPr lang="en-US" sz="1000" dirty="0"/>
          </a:p>
        </p:txBody>
      </p:sp>
      <p:sp>
        <p:nvSpPr>
          <p:cNvPr id="304" name="Text 283"/>
          <p:cNvSpPr txBox="1"/>
          <p:nvPr/>
        </p:nvSpPr>
        <p:spPr>
          <a:xfrm>
            <a:off x="8502151" y="21745410"/>
            <a:ext cx="2134210" cy="251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≥ 0.90, FPR ≤ 3%</a:t>
            </a:r>
            <a:endParaRPr lang="en-US" sz="1000" dirty="0"/>
          </a:p>
        </p:txBody>
      </p:sp>
      <p:sp>
        <p:nvSpPr>
          <p:cNvPr id="305" name="Text 284"/>
          <p:cNvSpPr txBox="1"/>
          <p:nvPr/>
        </p:nvSpPr>
        <p:spPr>
          <a:xfrm>
            <a:off x="10895058" y="21465519"/>
            <a:ext cx="2134210" cy="26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운영 데이터 RL</a:t>
            </a:r>
            <a:endParaRPr lang="en-US" sz="1000" dirty="0"/>
          </a:p>
        </p:txBody>
      </p:sp>
      <p:sp>
        <p:nvSpPr>
          <p:cNvPr id="306" name="Text 285"/>
          <p:cNvSpPr txBox="1"/>
          <p:nvPr/>
        </p:nvSpPr>
        <p:spPr>
          <a:xfrm>
            <a:off x="11007824" y="21759342"/>
            <a:ext cx="2134210" cy="251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 트래픽 강화 학습</a:t>
            </a:r>
            <a:endParaRPr lang="en-US" sz="1000" dirty="0"/>
          </a:p>
        </p:txBody>
      </p:sp>
      <p:sp>
        <p:nvSpPr>
          <p:cNvPr id="307" name="Text 286"/>
          <p:cNvSpPr txBox="1"/>
          <p:nvPr/>
        </p:nvSpPr>
        <p:spPr>
          <a:xfrm>
            <a:off x="12763529" y="21465519"/>
            <a:ext cx="2134210" cy="26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멀티에이전트</a:t>
            </a:r>
            <a:endParaRPr lang="en-US" sz="1000" dirty="0"/>
          </a:p>
        </p:txBody>
      </p:sp>
      <p:sp>
        <p:nvSpPr>
          <p:cNvPr id="308" name="Text 287"/>
          <p:cNvSpPr txBox="1"/>
          <p:nvPr/>
        </p:nvSpPr>
        <p:spPr>
          <a:xfrm>
            <a:off x="12882799" y="21759342"/>
            <a:ext cx="2134210" cy="251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간 상호작용 보안</a:t>
            </a:r>
            <a:endParaRPr lang="en-US" sz="1000" dirty="0"/>
          </a:p>
        </p:txBody>
      </p:sp>
      <p:sp>
        <p:nvSpPr>
          <p:cNvPr id="310" name="Text 289"/>
          <p:cNvSpPr txBox="1"/>
          <p:nvPr/>
        </p:nvSpPr>
        <p:spPr>
          <a:xfrm>
            <a:off x="577772" y="18491319"/>
            <a:ext cx="358985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</a:t>
            </a:r>
            <a:endParaRPr lang="en-US" sz="2000" dirty="0"/>
          </a:p>
        </p:txBody>
      </p:sp>
      <p:grpSp>
        <p:nvGrpSpPr>
          <p:cNvPr id="375" name="그룹 374">
            <a:extLst>
              <a:ext uri="{FF2B5EF4-FFF2-40B4-BE49-F238E27FC236}">
                <a16:creationId xmlns:a16="http://schemas.microsoft.com/office/drawing/2014/main" id="{592DA05B-840D-21C7-CB9C-74AB0E8BE8A9}"/>
              </a:ext>
            </a:extLst>
          </p:cNvPr>
          <p:cNvGrpSpPr/>
          <p:nvPr/>
        </p:nvGrpSpPr>
        <p:grpSpPr>
          <a:xfrm>
            <a:off x="569958" y="18929316"/>
            <a:ext cx="3873500" cy="3050269"/>
            <a:chOff x="607498" y="18991225"/>
            <a:chExt cx="3766794" cy="2009237"/>
          </a:xfrm>
        </p:grpSpPr>
        <p:sp>
          <p:nvSpPr>
            <p:cNvPr id="311" name="Text 290"/>
            <p:cNvSpPr txBox="1"/>
            <p:nvPr/>
          </p:nvSpPr>
          <p:spPr>
            <a:xfrm>
              <a:off x="607498" y="18991225"/>
              <a:ext cx="164114" cy="2985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182F6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[1]</a:t>
              </a:r>
              <a:endParaRPr lang="en-US" sz="1000" dirty="0"/>
            </a:p>
          </p:txBody>
        </p:sp>
        <p:sp>
          <p:nvSpPr>
            <p:cNvPr id="312" name="Text 291"/>
            <p:cNvSpPr txBox="1"/>
            <p:nvPr/>
          </p:nvSpPr>
          <p:spPr>
            <a:xfrm>
              <a:off x="840409" y="18991225"/>
              <a:ext cx="1318175" cy="2985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Meta AI. </a:t>
              </a:r>
              <a:r>
                <a:rPr lang="en-US" sz="10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Llama Guard 3</a:t>
              </a: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2024.</a:t>
              </a:r>
              <a:endParaRPr lang="en-US" sz="1000" dirty="0"/>
            </a:p>
          </p:txBody>
        </p:sp>
        <p:sp>
          <p:nvSpPr>
            <p:cNvPr id="313" name="Text 292"/>
            <p:cNvSpPr txBox="1"/>
            <p:nvPr/>
          </p:nvSpPr>
          <p:spPr>
            <a:xfrm>
              <a:off x="607498" y="19405943"/>
              <a:ext cx="164114" cy="3181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182F6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[2]</a:t>
              </a:r>
              <a:endParaRPr lang="en-US" sz="1000" dirty="0"/>
            </a:p>
          </p:txBody>
        </p:sp>
        <p:sp>
          <p:nvSpPr>
            <p:cNvPr id="314" name="Text 293"/>
            <p:cNvSpPr txBox="1"/>
            <p:nvPr/>
          </p:nvSpPr>
          <p:spPr>
            <a:xfrm>
              <a:off x="840409" y="19405943"/>
              <a:ext cx="3533883" cy="3181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Li et al. </a:t>
              </a:r>
              <a:r>
                <a:rPr lang="en-US" sz="10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InjecGuard: Benchmarking and Mitigating Over-defense in Prompt Injection Guardrail Models</a:t>
              </a: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</a:t>
              </a:r>
              <a:r>
                <a:rPr lang="en-US" sz="1000" dirty="0">
                  <a:solidFill>
                    <a:srgbClr val="64748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arXiv:2410.22770</a:t>
              </a: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2024.</a:t>
              </a:r>
              <a:endParaRPr lang="en-US" sz="1000" dirty="0"/>
            </a:p>
          </p:txBody>
        </p:sp>
        <p:sp>
          <p:nvSpPr>
            <p:cNvPr id="315" name="Text 294"/>
            <p:cNvSpPr txBox="1"/>
            <p:nvPr/>
          </p:nvSpPr>
          <p:spPr>
            <a:xfrm>
              <a:off x="607498" y="19838537"/>
              <a:ext cx="164114" cy="3181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182F6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[3]</a:t>
              </a:r>
              <a:endParaRPr lang="en-US" sz="1000" dirty="0"/>
            </a:p>
          </p:txBody>
        </p:sp>
        <p:sp>
          <p:nvSpPr>
            <p:cNvPr id="316" name="Text 295"/>
            <p:cNvSpPr txBox="1"/>
            <p:nvPr/>
          </p:nvSpPr>
          <p:spPr>
            <a:xfrm>
              <a:off x="840409" y="19838537"/>
              <a:ext cx="3316108" cy="3181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Hackett et al. </a:t>
              </a:r>
              <a:r>
                <a:rPr lang="en-US" sz="10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Bypassing Prompt Injection Detection in LLM Guardrails</a:t>
              </a: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</a:t>
              </a:r>
              <a:r>
                <a:rPr lang="en-US" sz="1000" dirty="0">
                  <a:solidFill>
                    <a:srgbClr val="64748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arXiv:2504.11168</a:t>
              </a: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2025.</a:t>
              </a:r>
              <a:endParaRPr lang="en-US" sz="1000" dirty="0"/>
            </a:p>
          </p:txBody>
        </p:sp>
        <p:sp>
          <p:nvSpPr>
            <p:cNvPr id="317" name="Text 296"/>
            <p:cNvSpPr txBox="1"/>
            <p:nvPr/>
          </p:nvSpPr>
          <p:spPr>
            <a:xfrm>
              <a:off x="607498" y="20269342"/>
              <a:ext cx="164114" cy="3181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182F6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[4]</a:t>
              </a:r>
              <a:endParaRPr lang="en-US" sz="1000" dirty="0"/>
            </a:p>
          </p:txBody>
        </p:sp>
        <p:sp>
          <p:nvSpPr>
            <p:cNvPr id="318" name="Text 297"/>
            <p:cNvSpPr txBox="1"/>
            <p:nvPr/>
          </p:nvSpPr>
          <p:spPr>
            <a:xfrm>
              <a:off x="840409" y="20269342"/>
              <a:ext cx="2887980" cy="3181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de Witt. </a:t>
              </a:r>
              <a:r>
                <a:rPr lang="en-US" sz="10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Open Challenges in Multi-Agent Security</a:t>
              </a: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</a:t>
              </a:r>
              <a:r>
                <a:rPr lang="en-US" sz="1000" dirty="0">
                  <a:solidFill>
                    <a:srgbClr val="64748B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arXiv:2505.02077</a:t>
              </a: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2025.</a:t>
              </a:r>
              <a:endParaRPr lang="en-US" sz="1000" dirty="0"/>
            </a:p>
          </p:txBody>
        </p:sp>
        <p:sp>
          <p:nvSpPr>
            <p:cNvPr id="319" name="Text 298"/>
            <p:cNvSpPr txBox="1"/>
            <p:nvPr/>
          </p:nvSpPr>
          <p:spPr>
            <a:xfrm>
              <a:off x="607498" y="20701936"/>
              <a:ext cx="164114" cy="2985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182F6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[5]</a:t>
              </a:r>
              <a:endParaRPr lang="en-US" sz="1000" dirty="0"/>
            </a:p>
          </p:txBody>
        </p:sp>
        <p:sp>
          <p:nvSpPr>
            <p:cNvPr id="320" name="Text 299"/>
            <p:cNvSpPr txBox="1"/>
            <p:nvPr/>
          </p:nvSpPr>
          <p:spPr>
            <a:xfrm>
              <a:off x="840408" y="20701936"/>
              <a:ext cx="2735293" cy="2985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Kakao AI. </a:t>
              </a:r>
              <a:r>
                <a:rPr lang="en-US" sz="10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Kanana: Compute-efficient Bilingual Language Models</a:t>
              </a:r>
              <a:r>
                <a:rPr lang="en-US" sz="1000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2025.</a:t>
              </a:r>
              <a:endParaRPr lang="en-US" sz="1000" dirty="0"/>
            </a:p>
          </p:txBody>
        </p:sp>
      </p:grpSp>
      <p:sp>
        <p:nvSpPr>
          <p:cNvPr id="328" name="Text 307"/>
          <p:cNvSpPr txBox="1"/>
          <p:nvPr/>
        </p:nvSpPr>
        <p:spPr>
          <a:xfrm>
            <a:off x="6157493" y="18749071"/>
            <a:ext cx="493540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🤗</a:t>
            </a:r>
            <a:endParaRPr lang="en-US" sz="3200" dirty="0"/>
          </a:p>
        </p:txBody>
      </p:sp>
      <p:grpSp>
        <p:nvGrpSpPr>
          <p:cNvPr id="356" name="그룹 355">
            <a:extLst>
              <a:ext uri="{FF2B5EF4-FFF2-40B4-BE49-F238E27FC236}">
                <a16:creationId xmlns:a16="http://schemas.microsoft.com/office/drawing/2014/main" id="{203A286B-A653-FDF8-47AA-50DCEC181478}"/>
              </a:ext>
            </a:extLst>
          </p:cNvPr>
          <p:cNvGrpSpPr/>
          <p:nvPr/>
        </p:nvGrpSpPr>
        <p:grpSpPr>
          <a:xfrm>
            <a:off x="675741" y="4601739"/>
            <a:ext cx="7010705" cy="1028700"/>
            <a:chOff x="647395" y="4896632"/>
            <a:chExt cx="7010705" cy="1028700"/>
          </a:xfrm>
        </p:grpSpPr>
        <p:sp>
          <p:nvSpPr>
            <p:cNvPr id="15" name="Shape 9"/>
            <p:cNvSpPr/>
            <p:nvPr/>
          </p:nvSpPr>
          <p:spPr>
            <a:xfrm>
              <a:off x="647395" y="4896632"/>
              <a:ext cx="7010705" cy="1028700"/>
            </a:xfrm>
            <a:prstGeom prst="roundRect">
              <a:avLst>
                <a:gd name="adj" fmla="val 6584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12"/>
            <p:cNvSpPr/>
            <p:nvPr/>
          </p:nvSpPr>
          <p:spPr>
            <a:xfrm>
              <a:off x="780898" y="5163637"/>
              <a:ext cx="895198" cy="476402"/>
            </a:xfrm>
            <a:prstGeom prst="roundRect">
              <a:avLst>
                <a:gd name="adj" fmla="val 30710"/>
              </a:avLst>
            </a:prstGeom>
            <a:solidFill>
              <a:srgbClr val="0A162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Shape 13"/>
            <p:cNvSpPr/>
            <p:nvPr/>
          </p:nvSpPr>
          <p:spPr>
            <a:xfrm>
              <a:off x="1943100" y="5163637"/>
              <a:ext cx="895198" cy="476402"/>
            </a:xfrm>
            <a:prstGeom prst="roundRect">
              <a:avLst>
                <a:gd name="adj" fmla="val 30710"/>
              </a:avLst>
            </a:prstGeom>
            <a:solidFill>
              <a:srgbClr val="1E3A8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14"/>
            <p:cNvSpPr/>
            <p:nvPr/>
          </p:nvSpPr>
          <p:spPr>
            <a:xfrm>
              <a:off x="3105302" y="5163637"/>
              <a:ext cx="1085393" cy="476402"/>
            </a:xfrm>
            <a:prstGeom prst="roundRect">
              <a:avLst>
                <a:gd name="adj" fmla="val 30710"/>
              </a:avLst>
            </a:prstGeom>
            <a:solidFill>
              <a:srgbClr val="31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15"/>
            <p:cNvSpPr/>
            <p:nvPr/>
          </p:nvSpPr>
          <p:spPr>
            <a:xfrm>
              <a:off x="4291984" y="5019321"/>
              <a:ext cx="1669409" cy="695859"/>
            </a:xfrm>
            <a:prstGeom prst="roundRect">
              <a:avLst>
                <a:gd name="adj" fmla="val 10382"/>
              </a:avLst>
            </a:prstGeom>
            <a:solidFill>
              <a:srgbClr val="EF4444">
                <a:alpha val="8000"/>
              </a:srgbClr>
            </a:solidFill>
            <a:ln w="254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16"/>
            <p:cNvSpPr/>
            <p:nvPr/>
          </p:nvSpPr>
          <p:spPr>
            <a:xfrm>
              <a:off x="6286500" y="5163637"/>
              <a:ext cx="1276502" cy="513893"/>
            </a:xfrm>
            <a:prstGeom prst="roundRect">
              <a:avLst>
                <a:gd name="adj" fmla="val 26361"/>
              </a:avLst>
            </a:prstGeom>
            <a:solidFill>
              <a:srgbClr val="0A1628"/>
            </a:solidFill>
            <a:ln w="254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 51"/>
            <p:cNvSpPr txBox="1"/>
            <p:nvPr/>
          </p:nvSpPr>
          <p:spPr>
            <a:xfrm>
              <a:off x="780898" y="5253886"/>
              <a:ext cx="89611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USER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사용자</a:t>
              </a:r>
              <a:endParaRPr lang="en-US" sz="800" dirty="0"/>
            </a:p>
          </p:txBody>
        </p:sp>
        <p:sp>
          <p:nvSpPr>
            <p:cNvPr id="68" name="Text 52"/>
            <p:cNvSpPr txBox="1"/>
            <p:nvPr/>
          </p:nvSpPr>
          <p:spPr>
            <a:xfrm>
              <a:off x="1695298" y="5297139"/>
              <a:ext cx="228600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1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</a:t>
              </a:r>
              <a:endParaRPr lang="en-US" sz="1300" dirty="0"/>
            </a:p>
          </p:txBody>
        </p:sp>
        <p:sp>
          <p:nvSpPr>
            <p:cNvPr id="69" name="Text 53"/>
            <p:cNvSpPr txBox="1"/>
            <p:nvPr/>
          </p:nvSpPr>
          <p:spPr>
            <a:xfrm>
              <a:off x="1943100" y="5262275"/>
              <a:ext cx="89611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AGENT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LLM</a:t>
              </a:r>
              <a:endParaRPr lang="en-US" sz="800" dirty="0"/>
            </a:p>
          </p:txBody>
        </p:sp>
        <p:sp>
          <p:nvSpPr>
            <p:cNvPr id="70" name="Text 54"/>
            <p:cNvSpPr txBox="1"/>
            <p:nvPr/>
          </p:nvSpPr>
          <p:spPr>
            <a:xfrm>
              <a:off x="2857500" y="5297139"/>
              <a:ext cx="228600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1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</a:t>
              </a:r>
              <a:endParaRPr lang="en-US" sz="1300" dirty="0"/>
            </a:p>
          </p:txBody>
        </p:sp>
        <p:sp>
          <p:nvSpPr>
            <p:cNvPr id="71" name="Text 55"/>
            <p:cNvSpPr txBox="1"/>
            <p:nvPr/>
          </p:nvSpPr>
          <p:spPr>
            <a:xfrm>
              <a:off x="3105302" y="5279053"/>
              <a:ext cx="1086307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TOOL CALL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CFE1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생성</a:t>
              </a:r>
              <a:endParaRPr lang="en-US" sz="800" dirty="0"/>
            </a:p>
          </p:txBody>
        </p:sp>
        <p:sp>
          <p:nvSpPr>
            <p:cNvPr id="72" name="Text 56"/>
            <p:cNvSpPr txBox="1"/>
            <p:nvPr/>
          </p:nvSpPr>
          <p:spPr>
            <a:xfrm>
              <a:off x="4561942" y="5078078"/>
              <a:ext cx="1110082" cy="12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kern="0" spc="38" dirty="0">
                  <a:solidFill>
                    <a:srgbClr val="EF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⚠ 기존 가드레일 미감시</a:t>
              </a:r>
              <a:endParaRPr lang="en-US" sz="800" dirty="0"/>
            </a:p>
          </p:txBody>
        </p:sp>
        <p:sp>
          <p:nvSpPr>
            <p:cNvPr id="73" name="Text 57"/>
            <p:cNvSpPr txBox="1"/>
            <p:nvPr/>
          </p:nvSpPr>
          <p:spPr>
            <a:xfrm>
              <a:off x="6038698" y="5297139"/>
              <a:ext cx="228600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31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</a:t>
              </a:r>
              <a:endParaRPr lang="en-US" sz="1300" dirty="0"/>
            </a:p>
          </p:txBody>
        </p:sp>
        <p:sp>
          <p:nvSpPr>
            <p:cNvPr id="74" name="Text 58"/>
            <p:cNvSpPr txBox="1"/>
            <p:nvPr/>
          </p:nvSpPr>
          <p:spPr>
            <a:xfrm>
              <a:off x="6311667" y="5279053"/>
              <a:ext cx="123901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EXTERNAL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DB · API</a:t>
              </a:r>
              <a:endParaRPr lang="en-US" sz="800" dirty="0"/>
            </a:p>
          </p:txBody>
        </p:sp>
        <p:sp>
          <p:nvSpPr>
            <p:cNvPr id="354" name="Shape 333"/>
            <p:cNvSpPr/>
            <p:nvPr/>
          </p:nvSpPr>
          <p:spPr>
            <a:xfrm>
              <a:off x="4381805" y="5258735"/>
              <a:ext cx="1466698" cy="342900"/>
            </a:xfrm>
            <a:prstGeom prst="roundRect">
              <a:avLst>
                <a:gd name="adj" fmla="val 59259"/>
              </a:avLst>
            </a:prstGeom>
            <a:solidFill>
              <a:srgbClr val="EF444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5" name="Text 334"/>
            <p:cNvSpPr txBox="1"/>
            <p:nvPr/>
          </p:nvSpPr>
          <p:spPr>
            <a:xfrm>
              <a:off x="4381805" y="5306283"/>
              <a:ext cx="146761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BLIND SPOT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FFE1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유출 가능 구간</a:t>
              </a:r>
              <a:endParaRPr lang="en-US" sz="800" dirty="0"/>
            </a:p>
          </p:txBody>
        </p:sp>
      </p:grpSp>
      <p:sp>
        <p:nvSpPr>
          <p:cNvPr id="364" name="Text 41">
            <a:extLst>
              <a:ext uri="{FF2B5EF4-FFF2-40B4-BE49-F238E27FC236}">
                <a16:creationId xmlns:a16="http://schemas.microsoft.com/office/drawing/2014/main" id="{7BD6F59D-75CE-8A87-D26C-C39259A6CDA2}"/>
              </a:ext>
            </a:extLst>
          </p:cNvPr>
          <p:cNvSpPr txBox="1"/>
          <p:nvPr/>
        </p:nvSpPr>
        <p:spPr>
          <a:xfrm>
            <a:off x="8666682" y="2051118"/>
            <a:ext cx="7049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spc="-100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</a:rPr>
              <a:t>AI</a:t>
            </a:r>
            <a:r>
              <a:rPr lang="ko-KR" altLang="en-US" sz="2000" b="1" spc="-100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</a:rPr>
              <a:t>융합대학 소프트웨어학과 김지우</a:t>
            </a:r>
            <a:r>
              <a:rPr lang="en-US" altLang="ko-KR" sz="2000" b="1" spc="-100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</a:rPr>
              <a:t>(32181070)</a:t>
            </a:r>
            <a:endParaRPr lang="en-US" sz="2000" spc="-100" dirty="0"/>
          </a:p>
        </p:txBody>
      </p:sp>
      <p:sp>
        <p:nvSpPr>
          <p:cNvPr id="374" name="Shape 8">
            <a:extLst>
              <a:ext uri="{FF2B5EF4-FFF2-40B4-BE49-F238E27FC236}">
                <a16:creationId xmlns:a16="http://schemas.microsoft.com/office/drawing/2014/main" id="{0CAA6556-95C3-EBEB-A875-CCEC368BD6FD}"/>
              </a:ext>
            </a:extLst>
          </p:cNvPr>
          <p:cNvSpPr/>
          <p:nvPr/>
        </p:nvSpPr>
        <p:spPr>
          <a:xfrm>
            <a:off x="0" y="2491779"/>
            <a:ext cx="16039490" cy="118596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8" name="Text 289">
            <a:extLst>
              <a:ext uri="{FF2B5EF4-FFF2-40B4-BE49-F238E27FC236}">
                <a16:creationId xmlns:a16="http://schemas.microsoft.com/office/drawing/2014/main" id="{4896098E-CDF6-DC38-B109-7C0C0DEF1539}"/>
              </a:ext>
            </a:extLst>
          </p:cNvPr>
          <p:cNvSpPr txBox="1"/>
          <p:nvPr/>
        </p:nvSpPr>
        <p:spPr>
          <a:xfrm>
            <a:off x="4464769" y="18440698"/>
            <a:ext cx="245541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1628"/>
                </a:solidFill>
                <a:latin typeface="Noto Sans KR" pitchFamily="34" charset="0"/>
                <a:ea typeface="Noto Sans KR" pitchFamily="34" charset="-122"/>
              </a:rPr>
              <a:t>Links</a:t>
            </a:r>
            <a:endParaRPr lang="en-US" sz="2000" dirty="0"/>
          </a:p>
        </p:txBody>
      </p:sp>
      <p:sp>
        <p:nvSpPr>
          <p:cNvPr id="390" name="Text 264">
            <a:extLst>
              <a:ext uri="{FF2B5EF4-FFF2-40B4-BE49-F238E27FC236}">
                <a16:creationId xmlns:a16="http://schemas.microsoft.com/office/drawing/2014/main" id="{86CAEA2C-0707-FCE9-2816-E923792C634E}"/>
              </a:ext>
            </a:extLst>
          </p:cNvPr>
          <p:cNvSpPr txBox="1"/>
          <p:nvPr/>
        </p:nvSpPr>
        <p:spPr>
          <a:xfrm>
            <a:off x="8388106" y="21090013"/>
            <a:ext cx="7049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b="1" spc="-10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</a:t>
            </a:r>
            <a:endParaRPr lang="en-US" sz="2000" spc="-100" dirty="0"/>
          </a:p>
        </p:txBody>
      </p:sp>
      <p:pic>
        <p:nvPicPr>
          <p:cNvPr id="393" name="그림 392" descr="GitHub Actions 소개 및 구성 요소 | KKamJi">
            <a:extLst>
              <a:ext uri="{FF2B5EF4-FFF2-40B4-BE49-F238E27FC236}">
                <a16:creationId xmlns:a16="http://schemas.microsoft.com/office/drawing/2014/main" id="{F9530437-462E-51B7-3328-1C3281C789A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4614" r="26354"/>
          <a:stretch>
            <a:fillRect/>
          </a:stretch>
        </p:blipFill>
        <p:spPr>
          <a:xfrm>
            <a:off x="4451963" y="18815336"/>
            <a:ext cx="469941" cy="500862"/>
          </a:xfrm>
          <a:prstGeom prst="rect">
            <a:avLst/>
          </a:prstGeom>
        </p:spPr>
      </p:pic>
      <p:pic>
        <p:nvPicPr>
          <p:cNvPr id="395" name="그림 394" descr="visit internet online or world wide web / www line art vector icon for apps  and website 스톡 벡터 | Adobe Stock">
            <a:extLst>
              <a:ext uri="{FF2B5EF4-FFF2-40B4-BE49-F238E27FC236}">
                <a16:creationId xmlns:a16="http://schemas.microsoft.com/office/drawing/2014/main" id="{D5B79F7F-E4F1-3DFE-0C3F-AA7F461EC63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588" t="8277" r="7403" b="4925"/>
          <a:stretch>
            <a:fillRect/>
          </a:stretch>
        </p:blipFill>
        <p:spPr>
          <a:xfrm>
            <a:off x="4460140" y="20252317"/>
            <a:ext cx="441237" cy="396149"/>
          </a:xfrm>
          <a:prstGeom prst="rect">
            <a:avLst/>
          </a:prstGeom>
        </p:spPr>
      </p:pic>
      <p:pic>
        <p:nvPicPr>
          <p:cNvPr id="396" name="그림 395" descr="QR 코드 이미지">
            <a:extLst>
              <a:ext uri="{FF2B5EF4-FFF2-40B4-BE49-F238E27FC236}">
                <a16:creationId xmlns:a16="http://schemas.microsoft.com/office/drawing/2014/main" id="{353918E9-57D5-7B76-B646-C6121858CCB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9334" y="20252316"/>
            <a:ext cx="1147595" cy="1147595"/>
          </a:xfrm>
          <a:prstGeom prst="rect">
            <a:avLst/>
          </a:prstGeom>
        </p:spPr>
      </p:pic>
      <p:pic>
        <p:nvPicPr>
          <p:cNvPr id="399" name="그림 398" descr="Linkedin logo png, Linkedin logo transparent png, Linkedin icon transparent  free png 23986970 PNG">
            <a:extLst>
              <a:ext uri="{FF2B5EF4-FFF2-40B4-BE49-F238E27FC236}">
                <a16:creationId xmlns:a16="http://schemas.microsoft.com/office/drawing/2014/main" id="{EC2C59E5-F35B-5745-E7AA-758622CDEB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17470" y="20129564"/>
            <a:ext cx="609643" cy="6096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937</Words>
  <Application>Microsoft Macintosh PowerPoint</Application>
  <PresentationFormat>사용자 지정</PresentationFormat>
  <Paragraphs>222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JetBrains Mono</vt:lpstr>
      <vt:lpstr>Noto Sans KR</vt:lpstr>
      <vt:lpstr>Noto Sans KR Black</vt:lpstr>
      <vt:lpstr>Arial</vt:lpstr>
      <vt:lpstr>Office Theme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김지우</cp:lastModifiedBy>
  <cp:revision>11</cp:revision>
  <cp:lastPrinted>2026-06-04T19:05:16Z</cp:lastPrinted>
  <dcterms:created xsi:type="dcterms:W3CDTF">2026-06-04T18:14:27Z</dcterms:created>
  <dcterms:modified xsi:type="dcterms:W3CDTF">2026-06-04T19:07:47Z</dcterms:modified>
</cp:coreProperties>
</file>